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260" r:id="rId5"/>
    <p:sldId id="304" r:id="rId6"/>
    <p:sldId id="303" r:id="rId7"/>
    <p:sldId id="315" r:id="rId8"/>
    <p:sldId id="316" r:id="rId9"/>
    <p:sldId id="307" r:id="rId10"/>
    <p:sldId id="312" r:id="rId11"/>
    <p:sldId id="306" r:id="rId12"/>
  </p:sldIdLst>
  <p:sldSz cx="9144000" cy="5143500" type="screen16x9"/>
  <p:notesSz cx="6858000" cy="9144000"/>
  <p:custDataLst>
    <p:tags r:id="rId17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" userDrawn="1">
          <p15:clr>
            <a:srgbClr val="A4A3A4"/>
          </p15:clr>
        </p15:guide>
        <p15:guide id="2" pos="2941" userDrawn="1">
          <p15:clr>
            <a:srgbClr val="A4A3A4"/>
          </p15:clr>
        </p15:guide>
        <p15:guide id="3" orient="horz" pos="2178" userDrawn="1">
          <p15:clr>
            <a:srgbClr val="A4A3A4"/>
          </p15:clr>
        </p15:guide>
        <p15:guide id="4" pos="102" userDrawn="1">
          <p15:clr>
            <a:srgbClr val="A4A3A4"/>
          </p15:clr>
        </p15:guide>
        <p15:guide id="5" pos="1922" userDrawn="1">
          <p15:clr>
            <a:srgbClr val="A4A3A4"/>
          </p15:clr>
        </p15:guide>
        <p15:guide id="6" orient="horz" pos="2600" userDrawn="1">
          <p15:clr>
            <a:srgbClr val="A4A3A4"/>
          </p15:clr>
        </p15:guide>
        <p15:guide id="7" pos="5708" userDrawn="1">
          <p15:clr>
            <a:srgbClr val="A4A3A4"/>
          </p15:clr>
        </p15:guide>
        <p15:guide id="8" orient="horz" pos="1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834"/>
    <a:srgbClr val="3B2213"/>
    <a:srgbClr val="F2F2F2"/>
    <a:srgbClr val="FEDA5B"/>
    <a:srgbClr val="FEE600"/>
    <a:srgbClr val="464646"/>
    <a:srgbClr val="72BEA0"/>
    <a:srgbClr val="70B4B7"/>
    <a:srgbClr val="C75349"/>
    <a:srgbClr val="F8B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0" autoAdjust="0"/>
    <p:restoredTop sz="91142" autoAdjust="0"/>
  </p:normalViewPr>
  <p:slideViewPr>
    <p:cSldViewPr snapToGrid="0" showGuides="1">
      <p:cViewPr varScale="1">
        <p:scale>
          <a:sx n="82" d="100"/>
          <a:sy n="82" d="100"/>
        </p:scale>
        <p:origin x="1092" y="72"/>
      </p:cViewPr>
      <p:guideLst>
        <p:guide orient="horz" pos="55"/>
        <p:guide pos="2941"/>
        <p:guide orient="horz" pos="2178"/>
        <p:guide pos="102"/>
        <p:guide pos="1922"/>
        <p:guide orient="horz" pos="2600"/>
        <p:guide pos="5708"/>
        <p:guide orient="horz" pos="166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17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70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8885A-1B81-4E7F-B793-12A31F916A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0C853-DC6C-4924-B1F2-08CE44BD350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7FC2F-FDF9-4A3A-8E00-C9FCC9B036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947804" y="2440221"/>
            <a:ext cx="2000251" cy="24051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6947805" y="1232722"/>
            <a:ext cx="2000251" cy="1085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4816928" y="1232722"/>
            <a:ext cx="2000251" cy="24051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4816928" y="3759568"/>
            <a:ext cx="2000251" cy="1085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134396" y="921223"/>
            <a:ext cx="2980593" cy="20229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3114989" y="921223"/>
            <a:ext cx="5894615" cy="20229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388880"/>
            <a:ext cx="2987040" cy="1650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078480" y="1388880"/>
            <a:ext cx="2987040" cy="1650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6156960" y="1388880"/>
            <a:ext cx="2987040" cy="1650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3168309"/>
            <a:ext cx="2987040" cy="15398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078480" y="3168310"/>
            <a:ext cx="2987040" cy="15398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156959" y="3168309"/>
            <a:ext cx="2987040" cy="15398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188941" y="3071520"/>
            <a:ext cx="2227684" cy="142108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188942" y="1466655"/>
            <a:ext cx="2227684" cy="142108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658304" y="3071520"/>
            <a:ext cx="2227684" cy="142108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4658305" y="1466655"/>
            <a:ext cx="2227684" cy="142108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2537924" y="1466655"/>
            <a:ext cx="1978090" cy="1421081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2537924" y="3071520"/>
            <a:ext cx="1978090" cy="1421081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028278" y="1466655"/>
            <a:ext cx="1978090" cy="1421081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7028278" y="3071520"/>
            <a:ext cx="1978090" cy="1421081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91E25-9CE8-4AFD-B4D8-4BFE903D8E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ECEF1-1935-4692-9C86-5FD89D9EDF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package" Target="../embeddings/Workbook1.xlsx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5" Type="http://schemas.openxmlformats.org/officeDocument/2006/relationships/notesSlide" Target="../notesSlides/notesSlide9.x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69.xml"/><Relationship Id="rId32" Type="http://schemas.openxmlformats.org/officeDocument/2006/relationships/tags" Target="../tags/tag68.xml"/><Relationship Id="rId31" Type="http://schemas.openxmlformats.org/officeDocument/2006/relationships/tags" Target="../tags/tag67.xml"/><Relationship Id="rId30" Type="http://schemas.openxmlformats.org/officeDocument/2006/relationships/tags" Target="../tags/tag66.xml"/><Relationship Id="rId3" Type="http://schemas.openxmlformats.org/officeDocument/2006/relationships/tags" Target="../tags/tag39.xml"/><Relationship Id="rId29" Type="http://schemas.openxmlformats.org/officeDocument/2006/relationships/tags" Target="../tags/tag65.xml"/><Relationship Id="rId28" Type="http://schemas.openxmlformats.org/officeDocument/2006/relationships/tags" Target="../tags/tag64.xml"/><Relationship Id="rId27" Type="http://schemas.openxmlformats.org/officeDocument/2006/relationships/tags" Target="../tags/tag63.xml"/><Relationship Id="rId26" Type="http://schemas.openxmlformats.org/officeDocument/2006/relationships/tags" Target="../tags/tag62.xml"/><Relationship Id="rId25" Type="http://schemas.openxmlformats.org/officeDocument/2006/relationships/tags" Target="../tags/tag61.xml"/><Relationship Id="rId24" Type="http://schemas.openxmlformats.org/officeDocument/2006/relationships/tags" Target="../tags/tag60.xml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351899" y="0"/>
            <a:ext cx="3755938" cy="5143500"/>
          </a:xfrm>
          <a:prstGeom prst="rect">
            <a:avLst/>
          </a:prstGeom>
          <a:solidFill>
            <a:srgbClr val="2128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68503" y="749128"/>
            <a:ext cx="8587946" cy="36452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596900" y="1562735"/>
            <a:ext cx="7588250" cy="7067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4000" b="1" dirty="0">
                <a:solidFill>
                  <a:srgbClr val="212834"/>
                </a:solidFill>
                <a:latin typeface="+mj-ea"/>
                <a:ea typeface="+mj-ea"/>
                <a:sym typeface="Calibri" panose="020F0502020204030204" pitchFamily="34" charset="0"/>
              </a:rPr>
              <a:t>招股书结构化抽取项目汇报</a:t>
            </a:r>
            <a:endParaRPr lang="zh-CN" altLang="en-US" sz="4000" b="1" dirty="0">
              <a:solidFill>
                <a:srgbClr val="212834"/>
              </a:solidFill>
              <a:latin typeface="+mj-ea"/>
              <a:ea typeface="+mj-ea"/>
              <a:sym typeface="Calibri" panose="020F0502020204030204" pitchFamily="34" charset="0"/>
            </a:endParaRPr>
          </a:p>
        </p:txBody>
      </p:sp>
      <p:sp>
        <p:nvSpPr>
          <p:cNvPr id="63" name="文本框 62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1573238" y="2636308"/>
            <a:ext cx="5997525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1400" spc="300">
                <a:solidFill>
                  <a:srgbClr val="212834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汇报内容：三周工作总结 + 单公司深度分析</a:t>
            </a:r>
            <a:endParaRPr lang="zh-CN" altLang="en-US" sz="1400" spc="300">
              <a:solidFill>
                <a:srgbClr val="212834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2442139" y="2943296"/>
            <a:ext cx="428053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/>
          <p:cNvSpPr/>
          <p:nvPr/>
        </p:nvSpPr>
        <p:spPr>
          <a:xfrm>
            <a:off x="2675525" y="3169801"/>
            <a:ext cx="351052" cy="351052"/>
          </a:xfrm>
          <a:prstGeom prst="ellipse">
            <a:avLst/>
          </a:prstGeom>
          <a:solidFill>
            <a:srgbClr val="212834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212834"/>
              </a:solidFill>
            </a:endParaRPr>
          </a:p>
        </p:txBody>
      </p:sp>
      <p:sp>
        <p:nvSpPr>
          <p:cNvPr id="68" name="文本框 6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3013282" y="3213076"/>
            <a:ext cx="207190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1400" dirty="0">
                <a:solidFill>
                  <a:srgbClr val="212834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日期：</a:t>
            </a:r>
            <a:r>
              <a:rPr lang="en-US" altLang="zh-CN" sz="1400" dirty="0">
                <a:solidFill>
                  <a:srgbClr val="212834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2026.7.2</a:t>
            </a:r>
            <a:endParaRPr lang="zh-CN" altLang="en-US" sz="1400" dirty="0">
              <a:solidFill>
                <a:srgbClr val="212834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pitchFamily="34" charset="0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4734130" y="3166749"/>
            <a:ext cx="351052" cy="351052"/>
          </a:xfrm>
          <a:prstGeom prst="ellipse">
            <a:avLst/>
          </a:prstGeom>
          <a:solidFill>
            <a:srgbClr val="212834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212834"/>
              </a:solidFill>
            </a:endParaRPr>
          </a:p>
        </p:txBody>
      </p:sp>
      <p:sp>
        <p:nvSpPr>
          <p:cNvPr id="70" name="文本框 69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5071887" y="3210024"/>
            <a:ext cx="2071900" cy="3067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1400" dirty="0">
                <a:solidFill>
                  <a:srgbClr val="212834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  <a:sym typeface="Calibri" panose="020F0502020204030204" pitchFamily="34" charset="0"/>
              </a:rPr>
              <a:t>汇报人：尚恬</a:t>
            </a:r>
            <a:endParaRPr lang="zh-CN" altLang="en-US" sz="1400" dirty="0">
              <a:solidFill>
                <a:srgbClr val="212834"/>
              </a:solidFill>
              <a:latin typeface="方正准圆简体" panose="03000509000000000000" pitchFamily="65" charset="-122"/>
              <a:ea typeface="方正准圆简体" panose="03000509000000000000" pitchFamily="65" charset="-122"/>
              <a:sym typeface="Calibri" panose="020F0502020204030204" pitchFamily="34" charset="0"/>
            </a:endParaRPr>
          </a:p>
        </p:txBody>
      </p:sp>
      <p:grpSp>
        <p:nvGrpSpPr>
          <p:cNvPr id="72" name="Group 59"/>
          <p:cNvGrpSpPr>
            <a:grpSpLocks noChangeAspect="1"/>
          </p:cNvGrpSpPr>
          <p:nvPr/>
        </p:nvGrpSpPr>
        <p:grpSpPr bwMode="auto">
          <a:xfrm>
            <a:off x="2739654" y="3225028"/>
            <a:ext cx="218168" cy="238153"/>
            <a:chOff x="1066" y="1985"/>
            <a:chExt cx="262" cy="286"/>
          </a:xfrm>
          <a:solidFill>
            <a:schemeClr val="bg1"/>
          </a:solidFill>
        </p:grpSpPr>
        <p:sp>
          <p:nvSpPr>
            <p:cNvPr id="74" name="Freeform 60"/>
            <p:cNvSpPr>
              <a:spLocks noEditPoints="1"/>
            </p:cNvSpPr>
            <p:nvPr/>
          </p:nvSpPr>
          <p:spPr bwMode="auto">
            <a:xfrm>
              <a:off x="1066" y="2005"/>
              <a:ext cx="262" cy="266"/>
            </a:xfrm>
            <a:custGeom>
              <a:avLst/>
              <a:gdLst>
                <a:gd name="T0" fmla="*/ 572 w 642"/>
                <a:gd name="T1" fmla="*/ 655 h 655"/>
                <a:gd name="T2" fmla="*/ 70 w 642"/>
                <a:gd name="T3" fmla="*/ 655 h 655"/>
                <a:gd name="T4" fmla="*/ 19 w 642"/>
                <a:gd name="T5" fmla="*/ 630 h 655"/>
                <a:gd name="T6" fmla="*/ 0 w 642"/>
                <a:gd name="T7" fmla="*/ 575 h 655"/>
                <a:gd name="T8" fmla="*/ 0 w 642"/>
                <a:gd name="T9" fmla="*/ 80 h 655"/>
                <a:gd name="T10" fmla="*/ 19 w 642"/>
                <a:gd name="T11" fmla="*/ 25 h 655"/>
                <a:gd name="T12" fmla="*/ 70 w 642"/>
                <a:gd name="T13" fmla="*/ 0 h 655"/>
                <a:gd name="T14" fmla="*/ 93 w 642"/>
                <a:gd name="T15" fmla="*/ 0 h 655"/>
                <a:gd name="T16" fmla="*/ 111 w 642"/>
                <a:gd name="T17" fmla="*/ 18 h 655"/>
                <a:gd name="T18" fmla="*/ 93 w 642"/>
                <a:gd name="T19" fmla="*/ 36 h 655"/>
                <a:gd name="T20" fmla="*/ 70 w 642"/>
                <a:gd name="T21" fmla="*/ 36 h 655"/>
                <a:gd name="T22" fmla="*/ 47 w 642"/>
                <a:gd name="T23" fmla="*/ 48 h 655"/>
                <a:gd name="T24" fmla="*/ 36 w 642"/>
                <a:gd name="T25" fmla="*/ 80 h 655"/>
                <a:gd name="T26" fmla="*/ 36 w 642"/>
                <a:gd name="T27" fmla="*/ 575 h 655"/>
                <a:gd name="T28" fmla="*/ 47 w 642"/>
                <a:gd name="T29" fmla="*/ 607 h 655"/>
                <a:gd name="T30" fmla="*/ 70 w 642"/>
                <a:gd name="T31" fmla="*/ 619 h 655"/>
                <a:gd name="T32" fmla="*/ 572 w 642"/>
                <a:gd name="T33" fmla="*/ 619 h 655"/>
                <a:gd name="T34" fmla="*/ 595 w 642"/>
                <a:gd name="T35" fmla="*/ 607 h 655"/>
                <a:gd name="T36" fmla="*/ 606 w 642"/>
                <a:gd name="T37" fmla="*/ 575 h 655"/>
                <a:gd name="T38" fmla="*/ 606 w 642"/>
                <a:gd name="T39" fmla="*/ 80 h 655"/>
                <a:gd name="T40" fmla="*/ 595 w 642"/>
                <a:gd name="T41" fmla="*/ 48 h 655"/>
                <a:gd name="T42" fmla="*/ 572 w 642"/>
                <a:gd name="T43" fmla="*/ 36 h 655"/>
                <a:gd name="T44" fmla="*/ 547 w 642"/>
                <a:gd name="T45" fmla="*/ 36 h 655"/>
                <a:gd name="T46" fmla="*/ 529 w 642"/>
                <a:gd name="T47" fmla="*/ 18 h 655"/>
                <a:gd name="T48" fmla="*/ 547 w 642"/>
                <a:gd name="T49" fmla="*/ 0 h 655"/>
                <a:gd name="T50" fmla="*/ 572 w 642"/>
                <a:gd name="T51" fmla="*/ 0 h 655"/>
                <a:gd name="T52" fmla="*/ 622 w 642"/>
                <a:gd name="T53" fmla="*/ 25 h 655"/>
                <a:gd name="T54" fmla="*/ 642 w 642"/>
                <a:gd name="T55" fmla="*/ 80 h 655"/>
                <a:gd name="T56" fmla="*/ 642 w 642"/>
                <a:gd name="T57" fmla="*/ 575 h 655"/>
                <a:gd name="T58" fmla="*/ 622 w 642"/>
                <a:gd name="T59" fmla="*/ 630 h 655"/>
                <a:gd name="T60" fmla="*/ 572 w 642"/>
                <a:gd name="T61" fmla="*/ 655 h 655"/>
                <a:gd name="T62" fmla="*/ 418 w 642"/>
                <a:gd name="T63" fmla="*/ 36 h 655"/>
                <a:gd name="T64" fmla="*/ 224 w 642"/>
                <a:gd name="T65" fmla="*/ 36 h 655"/>
                <a:gd name="T66" fmla="*/ 206 w 642"/>
                <a:gd name="T67" fmla="*/ 18 h 655"/>
                <a:gd name="T68" fmla="*/ 224 w 642"/>
                <a:gd name="T69" fmla="*/ 0 h 655"/>
                <a:gd name="T70" fmla="*/ 418 w 642"/>
                <a:gd name="T71" fmla="*/ 0 h 655"/>
                <a:gd name="T72" fmla="*/ 436 w 642"/>
                <a:gd name="T73" fmla="*/ 18 h 655"/>
                <a:gd name="T74" fmla="*/ 418 w 642"/>
                <a:gd name="T75" fmla="*/ 36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2" h="655">
                  <a:moveTo>
                    <a:pt x="572" y="655"/>
                  </a:moveTo>
                  <a:cubicBezTo>
                    <a:pt x="70" y="655"/>
                    <a:pt x="70" y="655"/>
                    <a:pt x="70" y="655"/>
                  </a:cubicBezTo>
                  <a:cubicBezTo>
                    <a:pt x="51" y="655"/>
                    <a:pt x="33" y="646"/>
                    <a:pt x="19" y="630"/>
                  </a:cubicBezTo>
                  <a:cubicBezTo>
                    <a:pt x="7" y="615"/>
                    <a:pt x="0" y="596"/>
                    <a:pt x="0" y="57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60"/>
                    <a:pt x="7" y="40"/>
                    <a:pt x="19" y="25"/>
                  </a:cubicBezTo>
                  <a:cubicBezTo>
                    <a:pt x="33" y="9"/>
                    <a:pt x="51" y="0"/>
                    <a:pt x="70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3" y="0"/>
                    <a:pt x="111" y="8"/>
                    <a:pt x="111" y="18"/>
                  </a:cubicBezTo>
                  <a:cubicBezTo>
                    <a:pt x="111" y="28"/>
                    <a:pt x="103" y="36"/>
                    <a:pt x="93" y="36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61" y="36"/>
                    <a:pt x="53" y="40"/>
                    <a:pt x="47" y="48"/>
                  </a:cubicBezTo>
                  <a:cubicBezTo>
                    <a:pt x="40" y="56"/>
                    <a:pt x="36" y="68"/>
                    <a:pt x="36" y="80"/>
                  </a:cubicBezTo>
                  <a:cubicBezTo>
                    <a:pt x="36" y="575"/>
                    <a:pt x="36" y="575"/>
                    <a:pt x="36" y="575"/>
                  </a:cubicBezTo>
                  <a:cubicBezTo>
                    <a:pt x="36" y="587"/>
                    <a:pt x="40" y="599"/>
                    <a:pt x="47" y="607"/>
                  </a:cubicBezTo>
                  <a:cubicBezTo>
                    <a:pt x="53" y="615"/>
                    <a:pt x="61" y="619"/>
                    <a:pt x="70" y="619"/>
                  </a:cubicBezTo>
                  <a:cubicBezTo>
                    <a:pt x="572" y="619"/>
                    <a:pt x="572" y="619"/>
                    <a:pt x="572" y="619"/>
                  </a:cubicBezTo>
                  <a:cubicBezTo>
                    <a:pt x="580" y="619"/>
                    <a:pt x="588" y="615"/>
                    <a:pt x="595" y="607"/>
                  </a:cubicBezTo>
                  <a:cubicBezTo>
                    <a:pt x="602" y="599"/>
                    <a:pt x="606" y="587"/>
                    <a:pt x="606" y="575"/>
                  </a:cubicBezTo>
                  <a:cubicBezTo>
                    <a:pt x="606" y="80"/>
                    <a:pt x="606" y="80"/>
                    <a:pt x="606" y="80"/>
                  </a:cubicBezTo>
                  <a:cubicBezTo>
                    <a:pt x="606" y="68"/>
                    <a:pt x="602" y="56"/>
                    <a:pt x="595" y="48"/>
                  </a:cubicBezTo>
                  <a:cubicBezTo>
                    <a:pt x="588" y="40"/>
                    <a:pt x="580" y="36"/>
                    <a:pt x="572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37" y="36"/>
                    <a:pt x="529" y="28"/>
                    <a:pt x="529" y="18"/>
                  </a:cubicBezTo>
                  <a:cubicBezTo>
                    <a:pt x="529" y="8"/>
                    <a:pt x="537" y="0"/>
                    <a:pt x="547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1" y="0"/>
                    <a:pt x="609" y="9"/>
                    <a:pt x="622" y="25"/>
                  </a:cubicBezTo>
                  <a:cubicBezTo>
                    <a:pt x="635" y="40"/>
                    <a:pt x="642" y="60"/>
                    <a:pt x="642" y="80"/>
                  </a:cubicBezTo>
                  <a:cubicBezTo>
                    <a:pt x="642" y="575"/>
                    <a:pt x="642" y="575"/>
                    <a:pt x="642" y="575"/>
                  </a:cubicBezTo>
                  <a:cubicBezTo>
                    <a:pt x="642" y="596"/>
                    <a:pt x="635" y="615"/>
                    <a:pt x="622" y="630"/>
                  </a:cubicBezTo>
                  <a:cubicBezTo>
                    <a:pt x="609" y="646"/>
                    <a:pt x="591" y="655"/>
                    <a:pt x="572" y="655"/>
                  </a:cubicBezTo>
                  <a:close/>
                  <a:moveTo>
                    <a:pt x="418" y="36"/>
                  </a:moveTo>
                  <a:cubicBezTo>
                    <a:pt x="224" y="36"/>
                    <a:pt x="224" y="36"/>
                    <a:pt x="224" y="36"/>
                  </a:cubicBezTo>
                  <a:cubicBezTo>
                    <a:pt x="214" y="36"/>
                    <a:pt x="206" y="28"/>
                    <a:pt x="206" y="18"/>
                  </a:cubicBezTo>
                  <a:cubicBezTo>
                    <a:pt x="206" y="8"/>
                    <a:pt x="214" y="0"/>
                    <a:pt x="224" y="0"/>
                  </a:cubicBezTo>
                  <a:cubicBezTo>
                    <a:pt x="418" y="0"/>
                    <a:pt x="418" y="0"/>
                    <a:pt x="418" y="0"/>
                  </a:cubicBezTo>
                  <a:cubicBezTo>
                    <a:pt x="428" y="0"/>
                    <a:pt x="436" y="8"/>
                    <a:pt x="436" y="18"/>
                  </a:cubicBezTo>
                  <a:cubicBezTo>
                    <a:pt x="436" y="28"/>
                    <a:pt x="428" y="36"/>
                    <a:pt x="4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75" name="Freeform 61"/>
            <p:cNvSpPr>
              <a:spLocks noEditPoints="1"/>
            </p:cNvSpPr>
            <p:nvPr/>
          </p:nvSpPr>
          <p:spPr bwMode="auto">
            <a:xfrm>
              <a:off x="1124" y="1985"/>
              <a:ext cx="146" cy="64"/>
            </a:xfrm>
            <a:custGeom>
              <a:avLst/>
              <a:gdLst>
                <a:gd name="T0" fmla="*/ 18 w 357"/>
                <a:gd name="T1" fmla="*/ 0 h 157"/>
                <a:gd name="T2" fmla="*/ 36 w 357"/>
                <a:gd name="T3" fmla="*/ 18 h 157"/>
                <a:gd name="T4" fmla="*/ 36 w 357"/>
                <a:gd name="T5" fmla="*/ 139 h 157"/>
                <a:gd name="T6" fmla="*/ 18 w 357"/>
                <a:gd name="T7" fmla="*/ 157 h 157"/>
                <a:gd name="T8" fmla="*/ 0 w 357"/>
                <a:gd name="T9" fmla="*/ 139 h 157"/>
                <a:gd name="T10" fmla="*/ 0 w 357"/>
                <a:gd name="T11" fmla="*/ 18 h 157"/>
                <a:gd name="T12" fmla="*/ 18 w 357"/>
                <a:gd name="T13" fmla="*/ 0 h 157"/>
                <a:gd name="T14" fmla="*/ 339 w 357"/>
                <a:gd name="T15" fmla="*/ 0 h 157"/>
                <a:gd name="T16" fmla="*/ 357 w 357"/>
                <a:gd name="T17" fmla="*/ 18 h 157"/>
                <a:gd name="T18" fmla="*/ 357 w 357"/>
                <a:gd name="T19" fmla="*/ 139 h 157"/>
                <a:gd name="T20" fmla="*/ 339 w 357"/>
                <a:gd name="T21" fmla="*/ 157 h 157"/>
                <a:gd name="T22" fmla="*/ 321 w 357"/>
                <a:gd name="T23" fmla="*/ 139 h 157"/>
                <a:gd name="T24" fmla="*/ 321 w 357"/>
                <a:gd name="T25" fmla="*/ 18 h 157"/>
                <a:gd name="T26" fmla="*/ 339 w 357"/>
                <a:gd name="T27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7" h="157">
                  <a:moveTo>
                    <a:pt x="18" y="0"/>
                  </a:moveTo>
                  <a:cubicBezTo>
                    <a:pt x="28" y="0"/>
                    <a:pt x="36" y="8"/>
                    <a:pt x="36" y="18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6" y="149"/>
                    <a:pt x="28" y="157"/>
                    <a:pt x="18" y="157"/>
                  </a:cubicBezTo>
                  <a:cubicBezTo>
                    <a:pt x="8" y="157"/>
                    <a:pt x="0" y="149"/>
                    <a:pt x="0" y="1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339" y="0"/>
                  </a:moveTo>
                  <a:cubicBezTo>
                    <a:pt x="349" y="0"/>
                    <a:pt x="357" y="8"/>
                    <a:pt x="357" y="1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7" y="149"/>
                    <a:pt x="349" y="157"/>
                    <a:pt x="339" y="157"/>
                  </a:cubicBezTo>
                  <a:cubicBezTo>
                    <a:pt x="329" y="157"/>
                    <a:pt x="321" y="149"/>
                    <a:pt x="321" y="139"/>
                  </a:cubicBezTo>
                  <a:cubicBezTo>
                    <a:pt x="321" y="18"/>
                    <a:pt x="321" y="18"/>
                    <a:pt x="321" y="18"/>
                  </a:cubicBezTo>
                  <a:cubicBezTo>
                    <a:pt x="321" y="8"/>
                    <a:pt x="329" y="0"/>
                    <a:pt x="33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76" name="Freeform 62"/>
            <p:cNvSpPr>
              <a:spLocks noEditPoints="1"/>
            </p:cNvSpPr>
            <p:nvPr/>
          </p:nvSpPr>
          <p:spPr bwMode="auto">
            <a:xfrm>
              <a:off x="1074" y="2044"/>
              <a:ext cx="246" cy="183"/>
            </a:xfrm>
            <a:custGeom>
              <a:avLst/>
              <a:gdLst>
                <a:gd name="T0" fmla="*/ 0 w 603"/>
                <a:gd name="T1" fmla="*/ 18 h 450"/>
                <a:gd name="T2" fmla="*/ 18 w 603"/>
                <a:gd name="T3" fmla="*/ 0 h 450"/>
                <a:gd name="T4" fmla="*/ 585 w 603"/>
                <a:gd name="T5" fmla="*/ 0 h 450"/>
                <a:gd name="T6" fmla="*/ 603 w 603"/>
                <a:gd name="T7" fmla="*/ 18 h 450"/>
                <a:gd name="T8" fmla="*/ 585 w 603"/>
                <a:gd name="T9" fmla="*/ 36 h 450"/>
                <a:gd name="T10" fmla="*/ 18 w 603"/>
                <a:gd name="T11" fmla="*/ 36 h 450"/>
                <a:gd name="T12" fmla="*/ 0 w 603"/>
                <a:gd name="T13" fmla="*/ 18 h 450"/>
                <a:gd name="T14" fmla="*/ 306 w 603"/>
                <a:gd name="T15" fmla="*/ 450 h 450"/>
                <a:gd name="T16" fmla="*/ 184 w 603"/>
                <a:gd name="T17" fmla="*/ 400 h 450"/>
                <a:gd name="T18" fmla="*/ 134 w 603"/>
                <a:gd name="T19" fmla="*/ 279 h 450"/>
                <a:gd name="T20" fmla="*/ 184 w 603"/>
                <a:gd name="T21" fmla="*/ 158 h 450"/>
                <a:gd name="T22" fmla="*/ 306 w 603"/>
                <a:gd name="T23" fmla="*/ 107 h 450"/>
                <a:gd name="T24" fmla="*/ 324 w 603"/>
                <a:gd name="T25" fmla="*/ 125 h 450"/>
                <a:gd name="T26" fmla="*/ 306 w 603"/>
                <a:gd name="T27" fmla="*/ 143 h 450"/>
                <a:gd name="T28" fmla="*/ 170 w 603"/>
                <a:gd name="T29" fmla="*/ 279 h 450"/>
                <a:gd name="T30" fmla="*/ 306 w 603"/>
                <a:gd name="T31" fmla="*/ 414 h 450"/>
                <a:gd name="T32" fmla="*/ 441 w 603"/>
                <a:gd name="T33" fmla="*/ 279 h 450"/>
                <a:gd name="T34" fmla="*/ 459 w 603"/>
                <a:gd name="T35" fmla="*/ 261 h 450"/>
                <a:gd name="T36" fmla="*/ 477 w 603"/>
                <a:gd name="T37" fmla="*/ 279 h 450"/>
                <a:gd name="T38" fmla="*/ 427 w 603"/>
                <a:gd name="T39" fmla="*/ 400 h 450"/>
                <a:gd name="T40" fmla="*/ 306 w 603"/>
                <a:gd name="T41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3" h="450">
                  <a:moveTo>
                    <a:pt x="0" y="18"/>
                  </a:moveTo>
                  <a:cubicBezTo>
                    <a:pt x="0" y="8"/>
                    <a:pt x="8" y="0"/>
                    <a:pt x="18" y="0"/>
                  </a:cubicBezTo>
                  <a:cubicBezTo>
                    <a:pt x="585" y="0"/>
                    <a:pt x="585" y="0"/>
                    <a:pt x="585" y="0"/>
                  </a:cubicBezTo>
                  <a:cubicBezTo>
                    <a:pt x="595" y="0"/>
                    <a:pt x="603" y="8"/>
                    <a:pt x="603" y="18"/>
                  </a:cubicBezTo>
                  <a:cubicBezTo>
                    <a:pt x="603" y="28"/>
                    <a:pt x="595" y="36"/>
                    <a:pt x="585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8" y="36"/>
                    <a:pt x="0" y="28"/>
                    <a:pt x="0" y="18"/>
                  </a:cubicBezTo>
                  <a:close/>
                  <a:moveTo>
                    <a:pt x="306" y="450"/>
                  </a:moveTo>
                  <a:cubicBezTo>
                    <a:pt x="260" y="450"/>
                    <a:pt x="217" y="433"/>
                    <a:pt x="184" y="400"/>
                  </a:cubicBezTo>
                  <a:cubicBezTo>
                    <a:pt x="152" y="368"/>
                    <a:pt x="134" y="325"/>
                    <a:pt x="134" y="279"/>
                  </a:cubicBezTo>
                  <a:cubicBezTo>
                    <a:pt x="134" y="233"/>
                    <a:pt x="152" y="190"/>
                    <a:pt x="184" y="158"/>
                  </a:cubicBezTo>
                  <a:cubicBezTo>
                    <a:pt x="217" y="125"/>
                    <a:pt x="260" y="107"/>
                    <a:pt x="306" y="107"/>
                  </a:cubicBezTo>
                  <a:cubicBezTo>
                    <a:pt x="316" y="107"/>
                    <a:pt x="324" y="115"/>
                    <a:pt x="324" y="125"/>
                  </a:cubicBezTo>
                  <a:cubicBezTo>
                    <a:pt x="324" y="135"/>
                    <a:pt x="316" y="143"/>
                    <a:pt x="306" y="143"/>
                  </a:cubicBezTo>
                  <a:cubicBezTo>
                    <a:pt x="231" y="143"/>
                    <a:pt x="170" y="204"/>
                    <a:pt x="170" y="279"/>
                  </a:cubicBezTo>
                  <a:cubicBezTo>
                    <a:pt x="170" y="354"/>
                    <a:pt x="231" y="414"/>
                    <a:pt x="306" y="414"/>
                  </a:cubicBezTo>
                  <a:cubicBezTo>
                    <a:pt x="380" y="414"/>
                    <a:pt x="441" y="354"/>
                    <a:pt x="441" y="279"/>
                  </a:cubicBezTo>
                  <a:cubicBezTo>
                    <a:pt x="441" y="269"/>
                    <a:pt x="449" y="261"/>
                    <a:pt x="459" y="261"/>
                  </a:cubicBezTo>
                  <a:cubicBezTo>
                    <a:pt x="469" y="261"/>
                    <a:pt x="477" y="269"/>
                    <a:pt x="477" y="279"/>
                  </a:cubicBezTo>
                  <a:cubicBezTo>
                    <a:pt x="477" y="325"/>
                    <a:pt x="459" y="368"/>
                    <a:pt x="427" y="400"/>
                  </a:cubicBezTo>
                  <a:cubicBezTo>
                    <a:pt x="395" y="433"/>
                    <a:pt x="351" y="450"/>
                    <a:pt x="30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77" name="Freeform 63"/>
            <p:cNvSpPr/>
            <p:nvPr/>
          </p:nvSpPr>
          <p:spPr bwMode="auto">
            <a:xfrm>
              <a:off x="1193" y="2088"/>
              <a:ext cx="53" cy="72"/>
            </a:xfrm>
            <a:custGeom>
              <a:avLst/>
              <a:gdLst>
                <a:gd name="T0" fmla="*/ 113 w 131"/>
                <a:gd name="T1" fmla="*/ 176 h 176"/>
                <a:gd name="T2" fmla="*/ 18 w 131"/>
                <a:gd name="T3" fmla="*/ 176 h 176"/>
                <a:gd name="T4" fmla="*/ 0 w 131"/>
                <a:gd name="T5" fmla="*/ 158 h 176"/>
                <a:gd name="T6" fmla="*/ 0 w 131"/>
                <a:gd name="T7" fmla="*/ 18 h 176"/>
                <a:gd name="T8" fmla="*/ 18 w 131"/>
                <a:gd name="T9" fmla="*/ 0 h 176"/>
                <a:gd name="T10" fmla="*/ 36 w 131"/>
                <a:gd name="T11" fmla="*/ 18 h 176"/>
                <a:gd name="T12" fmla="*/ 36 w 131"/>
                <a:gd name="T13" fmla="*/ 140 h 176"/>
                <a:gd name="T14" fmla="*/ 113 w 131"/>
                <a:gd name="T15" fmla="*/ 140 h 176"/>
                <a:gd name="T16" fmla="*/ 131 w 131"/>
                <a:gd name="T17" fmla="*/ 158 h 176"/>
                <a:gd name="T18" fmla="*/ 113 w 131"/>
                <a:gd name="T1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1" h="176">
                  <a:moveTo>
                    <a:pt x="113" y="176"/>
                  </a:moveTo>
                  <a:cubicBezTo>
                    <a:pt x="18" y="176"/>
                    <a:pt x="18" y="176"/>
                    <a:pt x="18" y="176"/>
                  </a:cubicBezTo>
                  <a:cubicBezTo>
                    <a:pt x="8" y="176"/>
                    <a:pt x="0" y="168"/>
                    <a:pt x="0" y="15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23" y="140"/>
                    <a:pt x="131" y="148"/>
                    <a:pt x="131" y="158"/>
                  </a:cubicBezTo>
                  <a:cubicBezTo>
                    <a:pt x="131" y="168"/>
                    <a:pt x="123" y="176"/>
                    <a:pt x="113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</p:grpSp>
      <p:grpSp>
        <p:nvGrpSpPr>
          <p:cNvPr id="79" name="Group 66"/>
          <p:cNvGrpSpPr>
            <a:grpSpLocks noChangeAspect="1"/>
          </p:cNvGrpSpPr>
          <p:nvPr/>
        </p:nvGrpSpPr>
        <p:grpSpPr bwMode="auto">
          <a:xfrm>
            <a:off x="4813613" y="3240290"/>
            <a:ext cx="192087" cy="207963"/>
            <a:chOff x="2111" y="2322"/>
            <a:chExt cx="121" cy="131"/>
          </a:xfrm>
          <a:solidFill>
            <a:schemeClr val="bg1"/>
          </a:solidFill>
        </p:grpSpPr>
        <p:sp>
          <p:nvSpPr>
            <p:cNvPr id="81" name="Freeform 67"/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82" name="Freeform 68"/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83" name="Freeform 69"/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302260" y="700405"/>
            <a:ext cx="4269740" cy="4202430"/>
          </a:xfrm>
          <a:prstGeom prst="rect">
            <a:avLst/>
          </a:prstGeom>
          <a:solidFill>
            <a:srgbClr val="212834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/>
        </p:nvSpPr>
        <p:spPr>
          <a:xfrm>
            <a:off x="400685" y="857250"/>
            <a:ext cx="1825625" cy="3981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5"/>
          <p:cNvSpPr txBox="1">
            <a:spLocks noChangeArrowheads="1"/>
          </p:cNvSpPr>
          <p:nvPr/>
        </p:nvSpPr>
        <p:spPr bwMode="auto">
          <a:xfrm>
            <a:off x="2169161" y="87313"/>
            <a:ext cx="4805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+mj-ea"/>
                <a:ea typeface="+mj-ea"/>
              </a:rPr>
              <a:t>项目进展总结与方法体系构成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4433191" y="609802"/>
            <a:ext cx="27761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572000" y="699770"/>
            <a:ext cx="4262755" cy="4203065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00050" y="1308100"/>
            <a:ext cx="2720975" cy="16192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Week1｜</a:t>
            </a: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数据理解与抽取原型阶段</a:t>
            </a:r>
            <a:endParaRPr lang="zh-CN" altLang="en-US" sz="12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PDF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下载与解析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候选文本定位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初步</a:t>
            </a: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JSON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结构生成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建立“证据意识</a:t>
            </a: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❕️</a:t>
            </a:r>
            <a:r>
              <a:rPr lang="zh-CN" altLang="en-US" sz="1000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从0到1搭建抽取原型</a:t>
            </a:r>
            <a:endParaRPr lang="zh-CN" altLang="en-US" sz="1000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212975" y="1772920"/>
            <a:ext cx="235902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Week2｜</a:t>
            </a: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结构统一与校验阶段</a:t>
            </a:r>
            <a:endParaRPr lang="en-US" altLang="zh-CN" sz="12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统一8家公司样本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构建</a:t>
            </a: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JSONL + Excel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结构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引入</a:t>
            </a: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Pydantic schema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约束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初步</a:t>
            </a: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cross-check（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数值一致性）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构建批注</a:t>
            </a: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PDF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与人工校验</a:t>
            </a:r>
            <a:endParaRPr lang="zh-CN" altLang="en-US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❕️</a:t>
            </a:r>
            <a:r>
              <a:rPr lang="zh-CN" altLang="en-US" sz="1000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从“能抽取” → “可验证”</a:t>
            </a:r>
            <a:endParaRPr lang="zh-CN" altLang="en-US" sz="1000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653280" y="2386330"/>
            <a:ext cx="2202180" cy="10585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人工层（</a:t>
            </a: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Gold Standard）</a:t>
            </a:r>
            <a:endParaRPr lang="en-US" altLang="zh-CN" sz="12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PDF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回溯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页码 + 原文证据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股本变化真实记录</a:t>
            </a:r>
            <a:endParaRPr lang="zh-CN" altLang="en-US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66090" y="857250"/>
            <a:ext cx="347916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/>
            <a:r>
              <a:rPr lang="zh-CN" altLang="en-US" sz="2000" b="1">
                <a:solidFill>
                  <a:srgbClr val="212834"/>
                </a:solidFill>
                <a:latin typeface="+mj-ea"/>
                <a:ea typeface="+mj-ea"/>
              </a:rPr>
              <a:t>项目整体进展</a:t>
            </a:r>
            <a:endParaRPr lang="zh-CN" altLang="en-US" sz="2000" b="1">
              <a:solidFill>
                <a:srgbClr val="212834"/>
              </a:solidFill>
              <a:latin typeface="+mj-ea"/>
              <a:ea typeface="+mj-ea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4653280" y="856615"/>
            <a:ext cx="1856740" cy="4019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4711365" y="856568"/>
            <a:ext cx="1706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b="1">
                <a:solidFill>
                  <a:srgbClr val="212834"/>
                </a:solidFill>
                <a:latin typeface="+mj-ea"/>
                <a:ea typeface="+mj-ea"/>
              </a:rPr>
              <a:t>方法体系构成</a:t>
            </a:r>
            <a:endParaRPr lang="zh-CN" altLang="en-US" sz="2000" b="1">
              <a:solidFill>
                <a:srgbClr val="212834"/>
              </a:solidFill>
              <a:latin typeface="+mj-ea"/>
              <a:ea typeface="+mj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490855" y="1623695"/>
            <a:ext cx="23850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2308225" y="2117725"/>
            <a:ext cx="2043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90855" y="3408680"/>
            <a:ext cx="2536825" cy="1522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Week3｜Gold + </a:t>
            </a: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自动化系统阶段</a:t>
            </a:r>
            <a:endParaRPr lang="en-US" altLang="zh-CN" sz="12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构建</a:t>
            </a: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manual gold standard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LLM + rule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融合抽取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error analysis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</a:t>
            </a: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review queue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gold vs auto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差异对比</a:t>
            </a:r>
            <a:endParaRPr lang="zh-CN" altLang="en-US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❕️</a:t>
            </a:r>
            <a:r>
              <a:rPr lang="zh-CN" altLang="en-US" sz="1000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从“可验证” → “可比较 + 可迭代”</a:t>
            </a:r>
            <a:endParaRPr lang="zh-CN" altLang="en-US" sz="1000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584200" y="3727450"/>
            <a:ext cx="2252345" cy="38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4658995" y="1355725"/>
            <a:ext cx="756920" cy="500380"/>
          </a:xfrm>
          <a:prstGeom prst="roundRect">
            <a:avLst/>
          </a:prstGeom>
          <a:solidFill>
            <a:srgbClr val="DCEBFA"/>
          </a:solidFill>
          <a:ln>
            <a:solidFill>
              <a:srgbClr val="1F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PDF解析</a:t>
            </a:r>
            <a:endParaRPr sz="1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Rounded Rectangle 2"/>
          <p:cNvSpPr/>
          <p:nvPr/>
        </p:nvSpPr>
        <p:spPr>
          <a:xfrm>
            <a:off x="5619750" y="1355725"/>
            <a:ext cx="756920" cy="500380"/>
          </a:xfrm>
          <a:prstGeom prst="roundRect">
            <a:avLst/>
          </a:prstGeom>
          <a:solidFill>
            <a:srgbClr val="DCEBFA"/>
          </a:solidFill>
          <a:ln>
            <a:solidFill>
              <a:srgbClr val="1F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lang="zh-CN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章节定位</a:t>
            </a:r>
            <a:endParaRPr lang="zh-CN" sz="1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Rounded Rectangle 2"/>
          <p:cNvSpPr/>
          <p:nvPr/>
        </p:nvSpPr>
        <p:spPr>
          <a:xfrm>
            <a:off x="6637020" y="1355725"/>
            <a:ext cx="756920" cy="500380"/>
          </a:xfrm>
          <a:prstGeom prst="roundRect">
            <a:avLst/>
          </a:prstGeom>
          <a:solidFill>
            <a:srgbClr val="DCEBFA"/>
          </a:solidFill>
          <a:ln>
            <a:solidFill>
              <a:srgbClr val="1F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lang="zh-CN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事件切块</a:t>
            </a:r>
            <a:endParaRPr lang="zh-CN" sz="1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Rounded Rectangle 2"/>
          <p:cNvSpPr/>
          <p:nvPr/>
        </p:nvSpPr>
        <p:spPr>
          <a:xfrm>
            <a:off x="7646035" y="1355725"/>
            <a:ext cx="1095375" cy="500380"/>
          </a:xfrm>
          <a:prstGeom prst="roundRect">
            <a:avLst/>
          </a:prstGeom>
          <a:solidFill>
            <a:srgbClr val="DCEBFA"/>
          </a:solidFill>
          <a:ln>
            <a:solidFill>
              <a:srgbClr val="1F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lang="zh-CN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规则</a:t>
            </a:r>
            <a:r>
              <a:rPr lang="en-US" altLang="zh-CN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/LLM</a:t>
            </a:r>
            <a:r>
              <a:rPr lang="zh-CN" altLang="en-US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抽取</a:t>
            </a:r>
            <a:endParaRPr lang="zh-CN" altLang="en-US" sz="1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" name="Rounded Rectangle 2"/>
          <p:cNvSpPr/>
          <p:nvPr/>
        </p:nvSpPr>
        <p:spPr>
          <a:xfrm>
            <a:off x="7658735" y="1953260"/>
            <a:ext cx="756920" cy="500380"/>
          </a:xfrm>
          <a:prstGeom prst="roundRect">
            <a:avLst/>
          </a:prstGeom>
          <a:solidFill>
            <a:srgbClr val="DCEBFA"/>
          </a:solidFill>
          <a:ln>
            <a:solidFill>
              <a:srgbClr val="1F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lang="zh-CN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人工复核</a:t>
            </a:r>
            <a:endParaRPr lang="zh-CN" sz="1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Rounded Rectangle 2"/>
          <p:cNvSpPr/>
          <p:nvPr/>
        </p:nvSpPr>
        <p:spPr>
          <a:xfrm>
            <a:off x="5026025" y="1956435"/>
            <a:ext cx="998855" cy="500380"/>
          </a:xfrm>
          <a:prstGeom prst="roundRect">
            <a:avLst/>
          </a:prstGeom>
          <a:solidFill>
            <a:srgbClr val="DCEBFA"/>
          </a:solidFill>
          <a:ln>
            <a:solidFill>
              <a:srgbClr val="1F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lang="en-US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Schema</a:t>
            </a:r>
            <a:r>
              <a:rPr lang="zh-CN" altLang="en-US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校验</a:t>
            </a:r>
            <a:endParaRPr lang="zh-CN" altLang="en-US" sz="1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" name="Rounded Rectangle 2"/>
          <p:cNvSpPr/>
          <p:nvPr/>
        </p:nvSpPr>
        <p:spPr>
          <a:xfrm>
            <a:off x="6322060" y="1953260"/>
            <a:ext cx="1039495" cy="500380"/>
          </a:xfrm>
          <a:prstGeom prst="roundRect">
            <a:avLst/>
          </a:prstGeom>
          <a:solidFill>
            <a:srgbClr val="DCEBFA"/>
          </a:solidFill>
          <a:ln>
            <a:solidFill>
              <a:srgbClr val="1F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rPr lang="en-US" sz="1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Cross-check</a:t>
            </a:r>
            <a:endParaRPr lang="en-US" sz="10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Right Arrow 3"/>
          <p:cNvSpPr/>
          <p:nvPr/>
        </p:nvSpPr>
        <p:spPr>
          <a:xfrm>
            <a:off x="5436870" y="1423035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3"/>
          <p:cNvSpPr/>
          <p:nvPr/>
        </p:nvSpPr>
        <p:spPr>
          <a:xfrm>
            <a:off x="6424295" y="1423035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3"/>
          <p:cNvSpPr/>
          <p:nvPr/>
        </p:nvSpPr>
        <p:spPr>
          <a:xfrm>
            <a:off x="7424420" y="1423035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3"/>
          <p:cNvSpPr/>
          <p:nvPr/>
        </p:nvSpPr>
        <p:spPr>
          <a:xfrm>
            <a:off x="4812030" y="2020570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3"/>
          <p:cNvSpPr/>
          <p:nvPr/>
        </p:nvSpPr>
        <p:spPr>
          <a:xfrm>
            <a:off x="6087745" y="2046605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3"/>
          <p:cNvSpPr/>
          <p:nvPr/>
        </p:nvSpPr>
        <p:spPr>
          <a:xfrm>
            <a:off x="7416800" y="2032000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本框 14"/>
          <p:cNvSpPr txBox="1"/>
          <p:nvPr/>
        </p:nvSpPr>
        <p:spPr>
          <a:xfrm>
            <a:off x="6936740" y="2764155"/>
            <a:ext cx="1917065" cy="1460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2. </a:t>
            </a: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规则 / </a:t>
            </a: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LLM</a:t>
            </a: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层</a:t>
            </a:r>
            <a:endParaRPr lang="zh-CN" altLang="en-US" sz="12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Auto Extraction）</a:t>
            </a:r>
            <a:endParaRPr lang="en-US" altLang="zh-CN" sz="12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章节过滤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事件识别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JSONL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结构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生成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66055" y="3599815"/>
            <a:ext cx="2225040" cy="1156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3. </a:t>
            </a: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校验层</a:t>
            </a:r>
            <a:endParaRPr lang="zh-CN" altLang="en-US" sz="12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indent="0" fontAlgn="auto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</a:t>
            </a:r>
            <a:r>
              <a:rPr lang="en-US" altLang="zh-CN" sz="12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Validation Layer）</a:t>
            </a:r>
            <a:endParaRPr lang="en-US" altLang="zh-CN" sz="12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schema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检查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数值一致性检查</a:t>
            </a:r>
            <a:endParaRPr lang="en-US" altLang="zh-CN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171450" indent="-171450" fontAlgn="auto">
              <a:lnSpc>
                <a:spcPct val="10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cross-check（</a:t>
            </a:r>
            <a:r>
              <a:rPr lang="zh-CN" altLang="en-US" sz="1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股本变化闭环</a:t>
            </a:r>
            <a:r>
              <a:rPr lang="zh-CN" altLang="en-US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5"/>
          <p:cNvSpPr txBox="1">
            <a:spLocks noChangeArrowheads="1"/>
          </p:cNvSpPr>
          <p:nvPr/>
        </p:nvSpPr>
        <p:spPr bwMode="auto">
          <a:xfrm>
            <a:off x="2567941" y="87313"/>
            <a:ext cx="40081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公司深耕</a:t>
            </a:r>
            <a:r>
              <a:rPr lang="en-US" altLang="zh-CN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——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三联锻造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133985" y="2637155"/>
            <a:ext cx="1443990" cy="580390"/>
          </a:xfrm>
          <a:prstGeom prst="wedgeRoundRect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r" fontAlgn="auto">
              <a:lnSpc>
                <a:spcPct val="150000"/>
              </a:lnSpc>
            </a:pPr>
            <a:r>
              <a:rPr lang="zh-CN" altLang="en-US" sz="1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时间线</a:t>
            </a:r>
            <a:endParaRPr lang="zh-CN" altLang="en-US" sz="1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77185" y="698500"/>
            <a:ext cx="5962650" cy="1938655"/>
          </a:xfrm>
          <a:prstGeom prst="rect">
            <a:avLst/>
          </a:prstGeom>
          <a:effectLst>
            <a:softEdge rad="50800"/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占位符 16"/>
          <p:cNvPicPr>
            <a:picLocks noGrp="1" noChangeAspect="1"/>
          </p:cNvPicPr>
          <p:nvPr>
            <p:ph type="pic" sz="quarter" idx="17"/>
          </p:nvPr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8" r="928"/>
          <a:stretch>
            <a:fillRect/>
          </a:stretch>
        </p:blipFill>
        <p:spPr>
          <a:xfrm>
            <a:off x="414655" y="615315"/>
            <a:ext cx="2770505" cy="1880870"/>
          </a:xfrm>
        </p:spPr>
      </p:pic>
      <p:sp>
        <p:nvSpPr>
          <p:cNvPr id="8" name="文本框 7"/>
          <p:cNvSpPr txBox="1"/>
          <p:nvPr/>
        </p:nvSpPr>
        <p:spPr>
          <a:xfrm>
            <a:off x="3097530" y="914400"/>
            <a:ext cx="5437505" cy="1489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045903" y="819245"/>
            <a:ext cx="15576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分析特征</a:t>
            </a:r>
            <a:r>
              <a:rPr lang="zh-CN" altLang="en-US" sz="2800" b="1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rPr>
              <a:t>：</a:t>
            </a:r>
            <a:endParaRPr lang="zh-CN" altLang="en-US" sz="28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246245" y="1384300"/>
            <a:ext cx="3759200" cy="121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• 历史沿革较长（多轮增资 + 股权转让）</a:t>
            </a:r>
            <a:endParaRPr lang="zh-CN" altLang="en-US" sz="14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• 早期事件复杂，容易与</a:t>
            </a:r>
            <a:r>
              <a:rPr lang="en-US" altLang="zh-CN" sz="14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IPO</a:t>
            </a:r>
            <a:r>
              <a:rPr lang="zh-CN" altLang="en-US" sz="14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前关键事件混淆</a:t>
            </a:r>
            <a:endParaRPr lang="zh-CN" altLang="en-US" sz="14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• 信息分散在多个章节（历史沿革 + 股本结构）</a:t>
            </a:r>
            <a:endParaRPr lang="zh-CN" altLang="en-US" sz="14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4174490" y="1279525"/>
            <a:ext cx="11214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1" name="Freeform 12"/>
          <p:cNvSpPr/>
          <p:nvPr/>
        </p:nvSpPr>
        <p:spPr bwMode="auto">
          <a:xfrm>
            <a:off x="414655" y="2842895"/>
            <a:ext cx="219710" cy="225425"/>
          </a:xfrm>
          <a:custGeom>
            <a:avLst/>
            <a:gdLst>
              <a:gd name="T0" fmla="*/ 113 w 118"/>
              <a:gd name="T1" fmla="*/ 44 h 106"/>
              <a:gd name="T2" fmla="*/ 58 w 118"/>
              <a:gd name="T3" fmla="*/ 44 h 106"/>
              <a:gd name="T4" fmla="*/ 50 w 118"/>
              <a:gd name="T5" fmla="*/ 39 h 106"/>
              <a:gd name="T6" fmla="*/ 47 w 118"/>
              <a:gd name="T7" fmla="*/ 40 h 106"/>
              <a:gd name="T8" fmla="*/ 9 w 118"/>
              <a:gd name="T9" fmla="*/ 2 h 106"/>
              <a:gd name="T10" fmla="*/ 2 w 118"/>
              <a:gd name="T11" fmla="*/ 2 h 106"/>
              <a:gd name="T12" fmla="*/ 2 w 118"/>
              <a:gd name="T13" fmla="*/ 9 h 106"/>
              <a:gd name="T14" fmla="*/ 41 w 118"/>
              <a:gd name="T15" fmla="*/ 48 h 106"/>
              <a:gd name="T16" fmla="*/ 41 w 118"/>
              <a:gd name="T17" fmla="*/ 49 h 106"/>
              <a:gd name="T18" fmla="*/ 44 w 118"/>
              <a:gd name="T19" fmla="*/ 56 h 106"/>
              <a:gd name="T20" fmla="*/ 17 w 118"/>
              <a:gd name="T21" fmla="*/ 104 h 106"/>
              <a:gd name="T22" fmla="*/ 20 w 118"/>
              <a:gd name="T23" fmla="*/ 106 h 106"/>
              <a:gd name="T24" fmla="*/ 47 w 118"/>
              <a:gd name="T25" fmla="*/ 58 h 106"/>
              <a:gd name="T26" fmla="*/ 50 w 118"/>
              <a:gd name="T27" fmla="*/ 58 h 106"/>
              <a:gd name="T28" fmla="*/ 58 w 118"/>
              <a:gd name="T29" fmla="*/ 54 h 106"/>
              <a:gd name="T30" fmla="*/ 113 w 118"/>
              <a:gd name="T31" fmla="*/ 54 h 106"/>
              <a:gd name="T32" fmla="*/ 118 w 118"/>
              <a:gd name="T33" fmla="*/ 49 h 106"/>
              <a:gd name="T34" fmla="*/ 113 w 118"/>
              <a:gd name="T35" fmla="*/ 44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8" h="106">
                <a:moveTo>
                  <a:pt x="113" y="44"/>
                </a:moveTo>
                <a:cubicBezTo>
                  <a:pt x="58" y="44"/>
                  <a:pt x="58" y="44"/>
                  <a:pt x="58" y="44"/>
                </a:cubicBezTo>
                <a:cubicBezTo>
                  <a:pt x="57" y="41"/>
                  <a:pt x="54" y="39"/>
                  <a:pt x="50" y="39"/>
                </a:cubicBezTo>
                <a:cubicBezTo>
                  <a:pt x="49" y="39"/>
                  <a:pt x="48" y="39"/>
                  <a:pt x="47" y="40"/>
                </a:cubicBezTo>
                <a:cubicBezTo>
                  <a:pt x="9" y="2"/>
                  <a:pt x="9" y="2"/>
                  <a:pt x="9" y="2"/>
                </a:cubicBezTo>
                <a:cubicBezTo>
                  <a:pt x="7" y="0"/>
                  <a:pt x="4" y="0"/>
                  <a:pt x="2" y="2"/>
                </a:cubicBezTo>
                <a:cubicBezTo>
                  <a:pt x="0" y="3"/>
                  <a:pt x="0" y="7"/>
                  <a:pt x="2" y="9"/>
                </a:cubicBezTo>
                <a:cubicBezTo>
                  <a:pt x="41" y="48"/>
                  <a:pt x="41" y="48"/>
                  <a:pt x="41" y="48"/>
                </a:cubicBezTo>
                <a:cubicBezTo>
                  <a:pt x="41" y="48"/>
                  <a:pt x="41" y="48"/>
                  <a:pt x="41" y="49"/>
                </a:cubicBezTo>
                <a:cubicBezTo>
                  <a:pt x="41" y="52"/>
                  <a:pt x="42" y="54"/>
                  <a:pt x="44" y="56"/>
                </a:cubicBezTo>
                <a:cubicBezTo>
                  <a:pt x="17" y="104"/>
                  <a:pt x="17" y="104"/>
                  <a:pt x="17" y="104"/>
                </a:cubicBezTo>
                <a:cubicBezTo>
                  <a:pt x="20" y="106"/>
                  <a:pt x="20" y="106"/>
                  <a:pt x="20" y="106"/>
                </a:cubicBezTo>
                <a:cubicBezTo>
                  <a:pt x="47" y="58"/>
                  <a:pt x="47" y="58"/>
                  <a:pt x="47" y="58"/>
                </a:cubicBezTo>
                <a:cubicBezTo>
                  <a:pt x="48" y="58"/>
                  <a:pt x="49" y="58"/>
                  <a:pt x="50" y="58"/>
                </a:cubicBezTo>
                <a:cubicBezTo>
                  <a:pt x="54" y="58"/>
                  <a:pt x="57" y="56"/>
                  <a:pt x="58" y="54"/>
                </a:cubicBezTo>
                <a:cubicBezTo>
                  <a:pt x="113" y="54"/>
                  <a:pt x="113" y="54"/>
                  <a:pt x="113" y="54"/>
                </a:cubicBezTo>
                <a:cubicBezTo>
                  <a:pt x="116" y="54"/>
                  <a:pt x="118" y="51"/>
                  <a:pt x="118" y="49"/>
                </a:cubicBezTo>
                <a:cubicBezTo>
                  <a:pt x="118" y="46"/>
                  <a:pt x="116" y="44"/>
                  <a:pt x="113" y="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11"/>
          <p:cNvSpPr>
            <a:spLocks noEditPoints="1"/>
          </p:cNvSpPr>
          <p:nvPr/>
        </p:nvSpPr>
        <p:spPr bwMode="auto">
          <a:xfrm>
            <a:off x="229235" y="2669540"/>
            <a:ext cx="509905" cy="534670"/>
          </a:xfrm>
          <a:custGeom>
            <a:avLst/>
            <a:gdLst>
              <a:gd name="T0" fmla="*/ 116 w 232"/>
              <a:gd name="T1" fmla="*/ 232 h 232"/>
              <a:gd name="T2" fmla="*/ 193 w 232"/>
              <a:gd name="T3" fmla="*/ 175 h 232"/>
              <a:gd name="T4" fmla="*/ 181 w 232"/>
              <a:gd name="T5" fmla="*/ 168 h 232"/>
              <a:gd name="T6" fmla="*/ 169 w 232"/>
              <a:gd name="T7" fmla="*/ 180 h 232"/>
              <a:gd name="T8" fmla="*/ 176 w 232"/>
              <a:gd name="T9" fmla="*/ 192 h 232"/>
              <a:gd name="T10" fmla="*/ 152 w 232"/>
              <a:gd name="T11" fmla="*/ 189 h 232"/>
              <a:gd name="T12" fmla="*/ 139 w 232"/>
              <a:gd name="T13" fmla="*/ 210 h 232"/>
              <a:gd name="T14" fmla="*/ 134 w 232"/>
              <a:gd name="T15" fmla="*/ 196 h 232"/>
              <a:gd name="T16" fmla="*/ 121 w 232"/>
              <a:gd name="T17" fmla="*/ 195 h 232"/>
              <a:gd name="T18" fmla="*/ 111 w 232"/>
              <a:gd name="T19" fmla="*/ 212 h 232"/>
              <a:gd name="T20" fmla="*/ 100 w 232"/>
              <a:gd name="T21" fmla="*/ 197 h 232"/>
              <a:gd name="T22" fmla="*/ 77 w 232"/>
              <a:gd name="T23" fmla="*/ 204 h 232"/>
              <a:gd name="T24" fmla="*/ 81 w 232"/>
              <a:gd name="T25" fmla="*/ 193 h 232"/>
              <a:gd name="T26" fmla="*/ 67 w 232"/>
              <a:gd name="T27" fmla="*/ 184 h 232"/>
              <a:gd name="T28" fmla="*/ 58 w 232"/>
              <a:gd name="T29" fmla="*/ 193 h 232"/>
              <a:gd name="T30" fmla="*/ 54 w 232"/>
              <a:gd name="T31" fmla="*/ 169 h 232"/>
              <a:gd name="T32" fmla="*/ 31 w 232"/>
              <a:gd name="T33" fmla="*/ 161 h 232"/>
              <a:gd name="T34" fmla="*/ 42 w 232"/>
              <a:gd name="T35" fmla="*/ 153 h 232"/>
              <a:gd name="T36" fmla="*/ 36 w 232"/>
              <a:gd name="T37" fmla="*/ 136 h 232"/>
              <a:gd name="T38" fmla="*/ 22 w 232"/>
              <a:gd name="T39" fmla="*/ 137 h 232"/>
              <a:gd name="T40" fmla="*/ 41 w 232"/>
              <a:gd name="T41" fmla="*/ 116 h 232"/>
              <a:gd name="T42" fmla="*/ 22 w 232"/>
              <a:gd name="T43" fmla="*/ 95 h 232"/>
              <a:gd name="T44" fmla="*/ 38 w 232"/>
              <a:gd name="T45" fmla="*/ 98 h 232"/>
              <a:gd name="T46" fmla="*/ 22 w 232"/>
              <a:gd name="T47" fmla="*/ 93 h 232"/>
              <a:gd name="T48" fmla="*/ 44 w 232"/>
              <a:gd name="T49" fmla="*/ 80 h 232"/>
              <a:gd name="T50" fmla="*/ 45 w 232"/>
              <a:gd name="T51" fmla="*/ 78 h 232"/>
              <a:gd name="T52" fmla="*/ 54 w 232"/>
              <a:gd name="T53" fmla="*/ 63 h 232"/>
              <a:gd name="T54" fmla="*/ 55 w 232"/>
              <a:gd name="T55" fmla="*/ 62 h 232"/>
              <a:gd name="T56" fmla="*/ 67 w 232"/>
              <a:gd name="T57" fmla="*/ 50 h 232"/>
              <a:gd name="T58" fmla="*/ 69 w 232"/>
              <a:gd name="T59" fmla="*/ 49 h 232"/>
              <a:gd name="T60" fmla="*/ 83 w 232"/>
              <a:gd name="T61" fmla="*/ 40 h 232"/>
              <a:gd name="T62" fmla="*/ 84 w 232"/>
              <a:gd name="T63" fmla="*/ 39 h 232"/>
              <a:gd name="T64" fmla="*/ 100 w 232"/>
              <a:gd name="T65" fmla="*/ 34 h 232"/>
              <a:gd name="T66" fmla="*/ 102 w 232"/>
              <a:gd name="T67" fmla="*/ 34 h 232"/>
              <a:gd name="T68" fmla="*/ 111 w 232"/>
              <a:gd name="T69" fmla="*/ 19 h 232"/>
              <a:gd name="T70" fmla="*/ 121 w 232"/>
              <a:gd name="T71" fmla="*/ 37 h 232"/>
              <a:gd name="T72" fmla="*/ 137 w 232"/>
              <a:gd name="T73" fmla="*/ 21 h 232"/>
              <a:gd name="T74" fmla="*/ 135 w 232"/>
              <a:gd name="T75" fmla="*/ 38 h 232"/>
              <a:gd name="T76" fmla="*/ 159 w 232"/>
              <a:gd name="T77" fmla="*/ 29 h 232"/>
              <a:gd name="T78" fmla="*/ 153 w 232"/>
              <a:gd name="T79" fmla="*/ 43 h 232"/>
              <a:gd name="T80" fmla="*/ 176 w 232"/>
              <a:gd name="T81" fmla="*/ 40 h 232"/>
              <a:gd name="T82" fmla="*/ 168 w 232"/>
              <a:gd name="T83" fmla="*/ 53 h 232"/>
              <a:gd name="T84" fmla="*/ 192 w 232"/>
              <a:gd name="T85" fmla="*/ 56 h 232"/>
              <a:gd name="T86" fmla="*/ 182 w 232"/>
              <a:gd name="T87" fmla="*/ 66 h 232"/>
              <a:gd name="T88" fmla="*/ 204 w 232"/>
              <a:gd name="T89" fmla="*/ 74 h 232"/>
              <a:gd name="T90" fmla="*/ 192 w 232"/>
              <a:gd name="T91" fmla="*/ 82 h 232"/>
              <a:gd name="T92" fmla="*/ 211 w 232"/>
              <a:gd name="T93" fmla="*/ 97 h 232"/>
              <a:gd name="T94" fmla="*/ 198 w 232"/>
              <a:gd name="T95" fmla="*/ 101 h 232"/>
              <a:gd name="T96" fmla="*/ 213 w 232"/>
              <a:gd name="T97" fmla="*/ 111 h 232"/>
              <a:gd name="T98" fmla="*/ 196 w 232"/>
              <a:gd name="T99" fmla="*/ 121 h 232"/>
              <a:gd name="T100" fmla="*/ 199 w 232"/>
              <a:gd name="T101" fmla="*/ 131 h 232"/>
              <a:gd name="T102" fmla="*/ 211 w 232"/>
              <a:gd name="T103" fmla="*/ 136 h 232"/>
              <a:gd name="T104" fmla="*/ 191 w 232"/>
              <a:gd name="T105" fmla="*/ 150 h 232"/>
              <a:gd name="T106" fmla="*/ 193 w 232"/>
              <a:gd name="T107" fmla="*/ 175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32" h="232">
                <a:moveTo>
                  <a:pt x="116" y="0"/>
                </a:moveTo>
                <a:cubicBezTo>
                  <a:pt x="52" y="0"/>
                  <a:pt x="0" y="52"/>
                  <a:pt x="0" y="116"/>
                </a:cubicBezTo>
                <a:cubicBezTo>
                  <a:pt x="0" y="180"/>
                  <a:pt x="52" y="232"/>
                  <a:pt x="116" y="232"/>
                </a:cubicBezTo>
                <a:cubicBezTo>
                  <a:pt x="180" y="232"/>
                  <a:pt x="232" y="180"/>
                  <a:pt x="232" y="116"/>
                </a:cubicBezTo>
                <a:cubicBezTo>
                  <a:pt x="232" y="52"/>
                  <a:pt x="180" y="0"/>
                  <a:pt x="116" y="0"/>
                </a:cubicBezTo>
                <a:close/>
                <a:moveTo>
                  <a:pt x="193" y="175"/>
                </a:moveTo>
                <a:cubicBezTo>
                  <a:pt x="182" y="166"/>
                  <a:pt x="182" y="166"/>
                  <a:pt x="182" y="166"/>
                </a:cubicBezTo>
                <a:cubicBezTo>
                  <a:pt x="182" y="166"/>
                  <a:pt x="181" y="166"/>
                  <a:pt x="181" y="166"/>
                </a:cubicBezTo>
                <a:cubicBezTo>
                  <a:pt x="181" y="167"/>
                  <a:pt x="181" y="167"/>
                  <a:pt x="181" y="168"/>
                </a:cubicBezTo>
                <a:cubicBezTo>
                  <a:pt x="192" y="176"/>
                  <a:pt x="192" y="176"/>
                  <a:pt x="192" y="176"/>
                </a:cubicBezTo>
                <a:cubicBezTo>
                  <a:pt x="187" y="182"/>
                  <a:pt x="183" y="186"/>
                  <a:pt x="178" y="191"/>
                </a:cubicBezTo>
                <a:cubicBezTo>
                  <a:pt x="169" y="180"/>
                  <a:pt x="169" y="180"/>
                  <a:pt x="169" y="180"/>
                </a:cubicBezTo>
                <a:cubicBezTo>
                  <a:pt x="169" y="179"/>
                  <a:pt x="168" y="179"/>
                  <a:pt x="168" y="180"/>
                </a:cubicBezTo>
                <a:cubicBezTo>
                  <a:pt x="167" y="180"/>
                  <a:pt x="167" y="181"/>
                  <a:pt x="167" y="181"/>
                </a:cubicBezTo>
                <a:cubicBezTo>
                  <a:pt x="176" y="192"/>
                  <a:pt x="176" y="192"/>
                  <a:pt x="176" y="192"/>
                </a:cubicBezTo>
                <a:cubicBezTo>
                  <a:pt x="171" y="196"/>
                  <a:pt x="166" y="199"/>
                  <a:pt x="160" y="202"/>
                </a:cubicBezTo>
                <a:cubicBezTo>
                  <a:pt x="154" y="190"/>
                  <a:pt x="154" y="190"/>
                  <a:pt x="154" y="190"/>
                </a:cubicBezTo>
                <a:cubicBezTo>
                  <a:pt x="153" y="189"/>
                  <a:pt x="153" y="189"/>
                  <a:pt x="152" y="189"/>
                </a:cubicBezTo>
                <a:cubicBezTo>
                  <a:pt x="152" y="190"/>
                  <a:pt x="152" y="190"/>
                  <a:pt x="152" y="191"/>
                </a:cubicBezTo>
                <a:cubicBezTo>
                  <a:pt x="158" y="203"/>
                  <a:pt x="158" y="203"/>
                  <a:pt x="158" y="203"/>
                </a:cubicBezTo>
                <a:cubicBezTo>
                  <a:pt x="152" y="206"/>
                  <a:pt x="146" y="208"/>
                  <a:pt x="139" y="210"/>
                </a:cubicBezTo>
                <a:cubicBezTo>
                  <a:pt x="136" y="195"/>
                  <a:pt x="136" y="195"/>
                  <a:pt x="136" y="195"/>
                </a:cubicBezTo>
                <a:cubicBezTo>
                  <a:pt x="136" y="195"/>
                  <a:pt x="136" y="194"/>
                  <a:pt x="135" y="195"/>
                </a:cubicBezTo>
                <a:cubicBezTo>
                  <a:pt x="135" y="195"/>
                  <a:pt x="134" y="195"/>
                  <a:pt x="134" y="196"/>
                </a:cubicBezTo>
                <a:cubicBezTo>
                  <a:pt x="137" y="210"/>
                  <a:pt x="137" y="210"/>
                  <a:pt x="137" y="210"/>
                </a:cubicBezTo>
                <a:cubicBezTo>
                  <a:pt x="132" y="211"/>
                  <a:pt x="127" y="212"/>
                  <a:pt x="121" y="212"/>
                </a:cubicBezTo>
                <a:cubicBezTo>
                  <a:pt x="121" y="195"/>
                  <a:pt x="121" y="195"/>
                  <a:pt x="121" y="195"/>
                </a:cubicBezTo>
                <a:cubicBezTo>
                  <a:pt x="121" y="192"/>
                  <a:pt x="119" y="190"/>
                  <a:pt x="116" y="190"/>
                </a:cubicBezTo>
                <a:cubicBezTo>
                  <a:pt x="114" y="190"/>
                  <a:pt x="111" y="192"/>
                  <a:pt x="111" y="195"/>
                </a:cubicBezTo>
                <a:cubicBezTo>
                  <a:pt x="111" y="212"/>
                  <a:pt x="111" y="212"/>
                  <a:pt x="111" y="212"/>
                </a:cubicBezTo>
                <a:cubicBezTo>
                  <a:pt x="107" y="212"/>
                  <a:pt x="102" y="212"/>
                  <a:pt x="98" y="211"/>
                </a:cubicBezTo>
                <a:cubicBezTo>
                  <a:pt x="100" y="199"/>
                  <a:pt x="100" y="199"/>
                  <a:pt x="100" y="199"/>
                </a:cubicBezTo>
                <a:cubicBezTo>
                  <a:pt x="100" y="198"/>
                  <a:pt x="100" y="197"/>
                  <a:pt x="100" y="197"/>
                </a:cubicBezTo>
                <a:cubicBezTo>
                  <a:pt x="99" y="197"/>
                  <a:pt x="98" y="198"/>
                  <a:pt x="98" y="198"/>
                </a:cubicBezTo>
                <a:cubicBezTo>
                  <a:pt x="96" y="210"/>
                  <a:pt x="96" y="210"/>
                  <a:pt x="96" y="210"/>
                </a:cubicBezTo>
                <a:cubicBezTo>
                  <a:pt x="90" y="209"/>
                  <a:pt x="83" y="207"/>
                  <a:pt x="77" y="204"/>
                </a:cubicBezTo>
                <a:cubicBezTo>
                  <a:pt x="83" y="194"/>
                  <a:pt x="83" y="194"/>
                  <a:pt x="83" y="194"/>
                </a:cubicBezTo>
                <a:cubicBezTo>
                  <a:pt x="83" y="193"/>
                  <a:pt x="83" y="193"/>
                  <a:pt x="82" y="192"/>
                </a:cubicBezTo>
                <a:cubicBezTo>
                  <a:pt x="82" y="192"/>
                  <a:pt x="81" y="192"/>
                  <a:pt x="81" y="193"/>
                </a:cubicBezTo>
                <a:cubicBezTo>
                  <a:pt x="75" y="203"/>
                  <a:pt x="75" y="203"/>
                  <a:pt x="75" y="203"/>
                </a:cubicBezTo>
                <a:cubicBezTo>
                  <a:pt x="70" y="201"/>
                  <a:pt x="64" y="198"/>
                  <a:pt x="59" y="194"/>
                </a:cubicBezTo>
                <a:cubicBezTo>
                  <a:pt x="67" y="184"/>
                  <a:pt x="67" y="184"/>
                  <a:pt x="67" y="184"/>
                </a:cubicBezTo>
                <a:cubicBezTo>
                  <a:pt x="68" y="183"/>
                  <a:pt x="68" y="183"/>
                  <a:pt x="67" y="182"/>
                </a:cubicBezTo>
                <a:cubicBezTo>
                  <a:pt x="67" y="182"/>
                  <a:pt x="66" y="182"/>
                  <a:pt x="66" y="183"/>
                </a:cubicBezTo>
                <a:cubicBezTo>
                  <a:pt x="58" y="193"/>
                  <a:pt x="58" y="193"/>
                  <a:pt x="58" y="193"/>
                </a:cubicBezTo>
                <a:cubicBezTo>
                  <a:pt x="52" y="189"/>
                  <a:pt x="48" y="184"/>
                  <a:pt x="43" y="179"/>
                </a:cubicBezTo>
                <a:cubicBezTo>
                  <a:pt x="54" y="171"/>
                  <a:pt x="54" y="171"/>
                  <a:pt x="54" y="171"/>
                </a:cubicBezTo>
                <a:cubicBezTo>
                  <a:pt x="54" y="170"/>
                  <a:pt x="54" y="170"/>
                  <a:pt x="54" y="169"/>
                </a:cubicBezTo>
                <a:cubicBezTo>
                  <a:pt x="53" y="169"/>
                  <a:pt x="53" y="169"/>
                  <a:pt x="52" y="169"/>
                </a:cubicBezTo>
                <a:cubicBezTo>
                  <a:pt x="42" y="178"/>
                  <a:pt x="42" y="178"/>
                  <a:pt x="42" y="178"/>
                </a:cubicBezTo>
                <a:cubicBezTo>
                  <a:pt x="38" y="173"/>
                  <a:pt x="34" y="167"/>
                  <a:pt x="31" y="161"/>
                </a:cubicBezTo>
                <a:cubicBezTo>
                  <a:pt x="43" y="155"/>
                  <a:pt x="43" y="155"/>
                  <a:pt x="43" y="155"/>
                </a:cubicBezTo>
                <a:cubicBezTo>
                  <a:pt x="44" y="154"/>
                  <a:pt x="44" y="154"/>
                  <a:pt x="43" y="153"/>
                </a:cubicBezTo>
                <a:cubicBezTo>
                  <a:pt x="43" y="153"/>
                  <a:pt x="43" y="153"/>
                  <a:pt x="42" y="153"/>
                </a:cubicBezTo>
                <a:cubicBezTo>
                  <a:pt x="30" y="159"/>
                  <a:pt x="30" y="159"/>
                  <a:pt x="30" y="159"/>
                </a:cubicBezTo>
                <a:cubicBezTo>
                  <a:pt x="27" y="153"/>
                  <a:pt x="24" y="146"/>
                  <a:pt x="22" y="139"/>
                </a:cubicBezTo>
                <a:cubicBezTo>
                  <a:pt x="36" y="136"/>
                  <a:pt x="36" y="136"/>
                  <a:pt x="36" y="136"/>
                </a:cubicBezTo>
                <a:cubicBezTo>
                  <a:pt x="37" y="136"/>
                  <a:pt x="37" y="135"/>
                  <a:pt x="37" y="135"/>
                </a:cubicBezTo>
                <a:cubicBezTo>
                  <a:pt x="37" y="134"/>
                  <a:pt x="37" y="134"/>
                  <a:pt x="36" y="134"/>
                </a:cubicBezTo>
                <a:cubicBezTo>
                  <a:pt x="22" y="137"/>
                  <a:pt x="22" y="137"/>
                  <a:pt x="22" y="137"/>
                </a:cubicBezTo>
                <a:cubicBezTo>
                  <a:pt x="21" y="132"/>
                  <a:pt x="20" y="126"/>
                  <a:pt x="20" y="121"/>
                </a:cubicBezTo>
                <a:cubicBezTo>
                  <a:pt x="36" y="121"/>
                  <a:pt x="36" y="121"/>
                  <a:pt x="36" y="121"/>
                </a:cubicBezTo>
                <a:cubicBezTo>
                  <a:pt x="39" y="121"/>
                  <a:pt x="41" y="118"/>
                  <a:pt x="41" y="116"/>
                </a:cubicBezTo>
                <a:cubicBezTo>
                  <a:pt x="41" y="113"/>
                  <a:pt x="39" y="111"/>
                  <a:pt x="36" y="111"/>
                </a:cubicBezTo>
                <a:cubicBezTo>
                  <a:pt x="20" y="111"/>
                  <a:pt x="20" y="111"/>
                  <a:pt x="20" y="111"/>
                </a:cubicBezTo>
                <a:cubicBezTo>
                  <a:pt x="20" y="105"/>
                  <a:pt x="21" y="100"/>
                  <a:pt x="22" y="95"/>
                </a:cubicBezTo>
                <a:cubicBezTo>
                  <a:pt x="22" y="95"/>
                  <a:pt x="22" y="95"/>
                  <a:pt x="22" y="95"/>
                </a:cubicBezTo>
                <a:cubicBezTo>
                  <a:pt x="38" y="98"/>
                  <a:pt x="38" y="98"/>
                  <a:pt x="38" y="98"/>
                </a:cubicBezTo>
                <a:cubicBezTo>
                  <a:pt x="38" y="98"/>
                  <a:pt x="38" y="98"/>
                  <a:pt x="38" y="98"/>
                </a:cubicBezTo>
                <a:cubicBezTo>
                  <a:pt x="38" y="98"/>
                  <a:pt x="39" y="98"/>
                  <a:pt x="39" y="97"/>
                </a:cubicBezTo>
                <a:cubicBezTo>
                  <a:pt x="39" y="97"/>
                  <a:pt x="39" y="96"/>
                  <a:pt x="38" y="96"/>
                </a:cubicBezTo>
                <a:cubicBezTo>
                  <a:pt x="22" y="93"/>
                  <a:pt x="22" y="93"/>
                  <a:pt x="22" y="93"/>
                </a:cubicBezTo>
                <a:cubicBezTo>
                  <a:pt x="22" y="93"/>
                  <a:pt x="22" y="93"/>
                  <a:pt x="22" y="93"/>
                </a:cubicBezTo>
                <a:cubicBezTo>
                  <a:pt x="24" y="86"/>
                  <a:pt x="26" y="79"/>
                  <a:pt x="30" y="72"/>
                </a:cubicBezTo>
                <a:cubicBezTo>
                  <a:pt x="44" y="80"/>
                  <a:pt x="44" y="80"/>
                  <a:pt x="44" y="80"/>
                </a:cubicBezTo>
                <a:cubicBezTo>
                  <a:pt x="44" y="80"/>
                  <a:pt x="44" y="80"/>
                  <a:pt x="44" y="80"/>
                </a:cubicBezTo>
                <a:cubicBezTo>
                  <a:pt x="45" y="80"/>
                  <a:pt x="45" y="80"/>
                  <a:pt x="45" y="79"/>
                </a:cubicBezTo>
                <a:cubicBezTo>
                  <a:pt x="45" y="79"/>
                  <a:pt x="45" y="78"/>
                  <a:pt x="45" y="78"/>
                </a:cubicBezTo>
                <a:cubicBezTo>
                  <a:pt x="31" y="70"/>
                  <a:pt x="31" y="70"/>
                  <a:pt x="31" y="70"/>
                </a:cubicBezTo>
                <a:cubicBezTo>
                  <a:pt x="34" y="64"/>
                  <a:pt x="38" y="59"/>
                  <a:pt x="42" y="54"/>
                </a:cubicBezTo>
                <a:cubicBezTo>
                  <a:pt x="54" y="63"/>
                  <a:pt x="54" y="63"/>
                  <a:pt x="54" y="63"/>
                </a:cubicBezTo>
                <a:cubicBezTo>
                  <a:pt x="54" y="64"/>
                  <a:pt x="54" y="64"/>
                  <a:pt x="55" y="64"/>
                </a:cubicBezTo>
                <a:cubicBezTo>
                  <a:pt x="55" y="64"/>
                  <a:pt x="55" y="63"/>
                  <a:pt x="55" y="63"/>
                </a:cubicBezTo>
                <a:cubicBezTo>
                  <a:pt x="56" y="63"/>
                  <a:pt x="56" y="62"/>
                  <a:pt x="55" y="62"/>
                </a:cubicBezTo>
                <a:cubicBezTo>
                  <a:pt x="43" y="52"/>
                  <a:pt x="43" y="52"/>
                  <a:pt x="43" y="52"/>
                </a:cubicBezTo>
                <a:cubicBezTo>
                  <a:pt x="48" y="47"/>
                  <a:pt x="53" y="42"/>
                  <a:pt x="58" y="38"/>
                </a:cubicBezTo>
                <a:cubicBezTo>
                  <a:pt x="67" y="50"/>
                  <a:pt x="67" y="50"/>
                  <a:pt x="67" y="50"/>
                </a:cubicBezTo>
                <a:cubicBezTo>
                  <a:pt x="68" y="50"/>
                  <a:pt x="68" y="50"/>
                  <a:pt x="68" y="50"/>
                </a:cubicBezTo>
                <a:cubicBezTo>
                  <a:pt x="68" y="50"/>
                  <a:pt x="69" y="50"/>
                  <a:pt x="69" y="50"/>
                </a:cubicBezTo>
                <a:cubicBezTo>
                  <a:pt x="69" y="50"/>
                  <a:pt x="69" y="49"/>
                  <a:pt x="69" y="49"/>
                </a:cubicBezTo>
                <a:cubicBezTo>
                  <a:pt x="60" y="37"/>
                  <a:pt x="60" y="37"/>
                  <a:pt x="60" y="37"/>
                </a:cubicBezTo>
                <a:cubicBezTo>
                  <a:pt x="65" y="33"/>
                  <a:pt x="70" y="30"/>
                  <a:pt x="76" y="28"/>
                </a:cubicBezTo>
                <a:cubicBezTo>
                  <a:pt x="83" y="40"/>
                  <a:pt x="83" y="40"/>
                  <a:pt x="83" y="40"/>
                </a:cubicBezTo>
                <a:cubicBezTo>
                  <a:pt x="83" y="40"/>
                  <a:pt x="83" y="40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5" y="40"/>
                  <a:pt x="85" y="39"/>
                  <a:pt x="84" y="39"/>
                </a:cubicBezTo>
                <a:cubicBezTo>
                  <a:pt x="78" y="27"/>
                  <a:pt x="78" y="27"/>
                  <a:pt x="78" y="27"/>
                </a:cubicBezTo>
                <a:cubicBezTo>
                  <a:pt x="84" y="24"/>
                  <a:pt x="91" y="22"/>
                  <a:pt x="98" y="21"/>
                </a:cubicBezTo>
                <a:cubicBezTo>
                  <a:pt x="100" y="34"/>
                  <a:pt x="100" y="34"/>
                  <a:pt x="100" y="34"/>
                </a:cubicBezTo>
                <a:cubicBezTo>
                  <a:pt x="100" y="35"/>
                  <a:pt x="101" y="35"/>
                  <a:pt x="101" y="35"/>
                </a:cubicBezTo>
                <a:cubicBezTo>
                  <a:pt x="101" y="35"/>
                  <a:pt x="101" y="35"/>
                  <a:pt x="101" y="35"/>
                </a:cubicBezTo>
                <a:cubicBezTo>
                  <a:pt x="102" y="35"/>
                  <a:pt x="102" y="34"/>
                  <a:pt x="102" y="34"/>
                </a:cubicBezTo>
                <a:cubicBezTo>
                  <a:pt x="100" y="20"/>
                  <a:pt x="100" y="20"/>
                  <a:pt x="100" y="20"/>
                </a:cubicBezTo>
                <a:cubicBezTo>
                  <a:pt x="103" y="20"/>
                  <a:pt x="107" y="19"/>
                  <a:pt x="111" y="19"/>
                </a:cubicBezTo>
                <a:cubicBezTo>
                  <a:pt x="111" y="19"/>
                  <a:pt x="111" y="19"/>
                  <a:pt x="111" y="19"/>
                </a:cubicBezTo>
                <a:cubicBezTo>
                  <a:pt x="111" y="37"/>
                  <a:pt x="111" y="37"/>
                  <a:pt x="111" y="37"/>
                </a:cubicBezTo>
                <a:cubicBezTo>
                  <a:pt x="111" y="40"/>
                  <a:pt x="114" y="42"/>
                  <a:pt x="116" y="42"/>
                </a:cubicBezTo>
                <a:cubicBezTo>
                  <a:pt x="119" y="42"/>
                  <a:pt x="121" y="40"/>
                  <a:pt x="121" y="37"/>
                </a:cubicBezTo>
                <a:cubicBezTo>
                  <a:pt x="121" y="19"/>
                  <a:pt x="121" y="19"/>
                  <a:pt x="121" y="19"/>
                </a:cubicBezTo>
                <a:cubicBezTo>
                  <a:pt x="121" y="19"/>
                  <a:pt x="121" y="19"/>
                  <a:pt x="121" y="19"/>
                </a:cubicBezTo>
                <a:cubicBezTo>
                  <a:pt x="127" y="19"/>
                  <a:pt x="132" y="20"/>
                  <a:pt x="137" y="21"/>
                </a:cubicBezTo>
                <a:cubicBezTo>
                  <a:pt x="134" y="36"/>
                  <a:pt x="134" y="36"/>
                  <a:pt x="134" y="36"/>
                </a:cubicBezTo>
                <a:cubicBezTo>
                  <a:pt x="134" y="37"/>
                  <a:pt x="135" y="38"/>
                  <a:pt x="135" y="38"/>
                </a:cubicBezTo>
                <a:cubicBezTo>
                  <a:pt x="135" y="38"/>
                  <a:pt x="135" y="38"/>
                  <a:pt x="135" y="38"/>
                </a:cubicBezTo>
                <a:cubicBezTo>
                  <a:pt x="136" y="38"/>
                  <a:pt x="136" y="37"/>
                  <a:pt x="136" y="37"/>
                </a:cubicBezTo>
                <a:cubicBezTo>
                  <a:pt x="139" y="22"/>
                  <a:pt x="139" y="22"/>
                  <a:pt x="139" y="22"/>
                </a:cubicBezTo>
                <a:cubicBezTo>
                  <a:pt x="146" y="23"/>
                  <a:pt x="152" y="26"/>
                  <a:pt x="159" y="29"/>
                </a:cubicBezTo>
                <a:cubicBezTo>
                  <a:pt x="152" y="41"/>
                  <a:pt x="152" y="41"/>
                  <a:pt x="152" y="41"/>
                </a:cubicBezTo>
                <a:cubicBezTo>
                  <a:pt x="152" y="42"/>
                  <a:pt x="152" y="43"/>
                  <a:pt x="152" y="43"/>
                </a:cubicBezTo>
                <a:cubicBezTo>
                  <a:pt x="152" y="43"/>
                  <a:pt x="153" y="43"/>
                  <a:pt x="153" y="43"/>
                </a:cubicBezTo>
                <a:cubicBezTo>
                  <a:pt x="153" y="43"/>
                  <a:pt x="153" y="43"/>
                  <a:pt x="154" y="42"/>
                </a:cubicBezTo>
                <a:cubicBezTo>
                  <a:pt x="160" y="30"/>
                  <a:pt x="160" y="30"/>
                  <a:pt x="160" y="30"/>
                </a:cubicBezTo>
                <a:cubicBezTo>
                  <a:pt x="166" y="32"/>
                  <a:pt x="171" y="36"/>
                  <a:pt x="176" y="40"/>
                </a:cubicBezTo>
                <a:cubicBezTo>
                  <a:pt x="167" y="51"/>
                  <a:pt x="167" y="51"/>
                  <a:pt x="167" y="51"/>
                </a:cubicBezTo>
                <a:cubicBezTo>
                  <a:pt x="167" y="52"/>
                  <a:pt x="167" y="52"/>
                  <a:pt x="168" y="53"/>
                </a:cubicBezTo>
                <a:cubicBezTo>
                  <a:pt x="168" y="53"/>
                  <a:pt x="168" y="53"/>
                  <a:pt x="168" y="53"/>
                </a:cubicBezTo>
                <a:cubicBezTo>
                  <a:pt x="168" y="53"/>
                  <a:pt x="169" y="53"/>
                  <a:pt x="169" y="52"/>
                </a:cubicBezTo>
                <a:cubicBezTo>
                  <a:pt x="178" y="41"/>
                  <a:pt x="178" y="41"/>
                  <a:pt x="178" y="41"/>
                </a:cubicBezTo>
                <a:cubicBezTo>
                  <a:pt x="183" y="45"/>
                  <a:pt x="188" y="50"/>
                  <a:pt x="192" y="56"/>
                </a:cubicBezTo>
                <a:cubicBezTo>
                  <a:pt x="181" y="65"/>
                  <a:pt x="181" y="65"/>
                  <a:pt x="181" y="65"/>
                </a:cubicBezTo>
                <a:cubicBezTo>
                  <a:pt x="181" y="65"/>
                  <a:pt x="181" y="66"/>
                  <a:pt x="181" y="66"/>
                </a:cubicBezTo>
                <a:cubicBezTo>
                  <a:pt x="181" y="66"/>
                  <a:pt x="181" y="66"/>
                  <a:pt x="182" y="66"/>
                </a:cubicBezTo>
                <a:cubicBezTo>
                  <a:pt x="182" y="66"/>
                  <a:pt x="182" y="66"/>
                  <a:pt x="182" y="66"/>
                </a:cubicBezTo>
                <a:cubicBezTo>
                  <a:pt x="193" y="57"/>
                  <a:pt x="193" y="57"/>
                  <a:pt x="193" y="57"/>
                </a:cubicBezTo>
                <a:cubicBezTo>
                  <a:pt x="197" y="62"/>
                  <a:pt x="201" y="68"/>
                  <a:pt x="204" y="74"/>
                </a:cubicBezTo>
                <a:cubicBezTo>
                  <a:pt x="192" y="81"/>
                  <a:pt x="192" y="81"/>
                  <a:pt x="192" y="81"/>
                </a:cubicBezTo>
                <a:cubicBezTo>
                  <a:pt x="191" y="81"/>
                  <a:pt x="191" y="81"/>
                  <a:pt x="191" y="82"/>
                </a:cubicBezTo>
                <a:cubicBezTo>
                  <a:pt x="191" y="82"/>
                  <a:pt x="192" y="82"/>
                  <a:pt x="192" y="82"/>
                </a:cubicBezTo>
                <a:cubicBezTo>
                  <a:pt x="192" y="82"/>
                  <a:pt x="192" y="82"/>
                  <a:pt x="193" y="82"/>
                </a:cubicBezTo>
                <a:cubicBezTo>
                  <a:pt x="205" y="76"/>
                  <a:pt x="205" y="76"/>
                  <a:pt x="205" y="76"/>
                </a:cubicBezTo>
                <a:cubicBezTo>
                  <a:pt x="208" y="82"/>
                  <a:pt x="210" y="89"/>
                  <a:pt x="211" y="97"/>
                </a:cubicBezTo>
                <a:cubicBezTo>
                  <a:pt x="198" y="99"/>
                  <a:pt x="198" y="99"/>
                  <a:pt x="198" y="99"/>
                </a:cubicBezTo>
                <a:cubicBezTo>
                  <a:pt x="198" y="99"/>
                  <a:pt x="197" y="100"/>
                  <a:pt x="197" y="100"/>
                </a:cubicBezTo>
                <a:cubicBezTo>
                  <a:pt x="198" y="101"/>
                  <a:pt x="198" y="101"/>
                  <a:pt x="198" y="101"/>
                </a:cubicBezTo>
                <a:cubicBezTo>
                  <a:pt x="199" y="101"/>
                  <a:pt x="199" y="101"/>
                  <a:pt x="199" y="101"/>
                </a:cubicBezTo>
                <a:cubicBezTo>
                  <a:pt x="211" y="99"/>
                  <a:pt x="211" y="99"/>
                  <a:pt x="211" y="99"/>
                </a:cubicBezTo>
                <a:cubicBezTo>
                  <a:pt x="212" y="103"/>
                  <a:pt x="213" y="107"/>
                  <a:pt x="213" y="111"/>
                </a:cubicBezTo>
                <a:cubicBezTo>
                  <a:pt x="196" y="111"/>
                  <a:pt x="196" y="111"/>
                  <a:pt x="196" y="111"/>
                </a:cubicBezTo>
                <a:cubicBezTo>
                  <a:pt x="194" y="111"/>
                  <a:pt x="191" y="113"/>
                  <a:pt x="191" y="116"/>
                </a:cubicBezTo>
                <a:cubicBezTo>
                  <a:pt x="191" y="118"/>
                  <a:pt x="194" y="121"/>
                  <a:pt x="196" y="121"/>
                </a:cubicBezTo>
                <a:cubicBezTo>
                  <a:pt x="213" y="121"/>
                  <a:pt x="213" y="121"/>
                  <a:pt x="213" y="121"/>
                </a:cubicBezTo>
                <a:cubicBezTo>
                  <a:pt x="213" y="125"/>
                  <a:pt x="212" y="129"/>
                  <a:pt x="211" y="134"/>
                </a:cubicBezTo>
                <a:cubicBezTo>
                  <a:pt x="199" y="131"/>
                  <a:pt x="199" y="131"/>
                  <a:pt x="199" y="131"/>
                </a:cubicBezTo>
                <a:cubicBezTo>
                  <a:pt x="198" y="131"/>
                  <a:pt x="198" y="132"/>
                  <a:pt x="197" y="132"/>
                </a:cubicBezTo>
                <a:cubicBezTo>
                  <a:pt x="197" y="133"/>
                  <a:pt x="198" y="133"/>
                  <a:pt x="198" y="133"/>
                </a:cubicBezTo>
                <a:cubicBezTo>
                  <a:pt x="211" y="136"/>
                  <a:pt x="211" y="136"/>
                  <a:pt x="211" y="136"/>
                </a:cubicBezTo>
                <a:cubicBezTo>
                  <a:pt x="209" y="143"/>
                  <a:pt x="207" y="150"/>
                  <a:pt x="204" y="156"/>
                </a:cubicBezTo>
                <a:cubicBezTo>
                  <a:pt x="193" y="150"/>
                  <a:pt x="193" y="150"/>
                  <a:pt x="193" y="150"/>
                </a:cubicBezTo>
                <a:cubicBezTo>
                  <a:pt x="192" y="150"/>
                  <a:pt x="191" y="150"/>
                  <a:pt x="191" y="150"/>
                </a:cubicBezTo>
                <a:cubicBezTo>
                  <a:pt x="191" y="151"/>
                  <a:pt x="191" y="151"/>
                  <a:pt x="192" y="152"/>
                </a:cubicBezTo>
                <a:cubicBezTo>
                  <a:pt x="203" y="158"/>
                  <a:pt x="203" y="158"/>
                  <a:pt x="203" y="158"/>
                </a:cubicBezTo>
                <a:cubicBezTo>
                  <a:pt x="200" y="164"/>
                  <a:pt x="197" y="170"/>
                  <a:pt x="193" y="1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535305" y="3331210"/>
            <a:ext cx="1840865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2004.06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三联有限设立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566670" y="3331210"/>
            <a:ext cx="1671320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2007.12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第一次增资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428490" y="3331210"/>
            <a:ext cx="2010410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2008.01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第一次股权转让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629400" y="3331210"/>
            <a:ext cx="2010410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2014.03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第二次股权转让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535305" y="3903345"/>
            <a:ext cx="1841500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2014.05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第二次增资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2566670" y="3903345"/>
            <a:ext cx="1672590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2017.02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第三次增资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429125" y="3916680"/>
            <a:ext cx="2009775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2017.11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第四次增资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6628130" y="3916680"/>
            <a:ext cx="2010410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2018.02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第三次股权转让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35305" y="4475480"/>
            <a:ext cx="2010410" cy="4584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2018.07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第四次股权转让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2877185" y="4475480"/>
            <a:ext cx="2010410" cy="458470"/>
          </a:xfrm>
          <a:prstGeom prst="roundRect">
            <a:avLst/>
          </a:prstGeom>
          <a:solidFill>
            <a:schemeClr val="accent1">
              <a:lumMod val="75000"/>
              <a:lumOff val="2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2018.11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三联锻造成立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5219065" y="4454525"/>
            <a:ext cx="2342515" cy="458470"/>
          </a:xfrm>
          <a:prstGeom prst="roundRect">
            <a:avLst/>
          </a:prstGeom>
          <a:solidFill>
            <a:schemeClr val="accent1">
              <a:lumMod val="75000"/>
              <a:lumOff val="2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2019.12 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三联锻造第一次增资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7" name="Right Arrow 3"/>
          <p:cNvSpPr/>
          <p:nvPr/>
        </p:nvSpPr>
        <p:spPr>
          <a:xfrm>
            <a:off x="2385060" y="3345180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"/>
          <p:cNvSpPr/>
          <p:nvPr/>
        </p:nvSpPr>
        <p:spPr>
          <a:xfrm>
            <a:off x="4246245" y="3373120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"/>
          <p:cNvSpPr/>
          <p:nvPr/>
        </p:nvSpPr>
        <p:spPr>
          <a:xfrm>
            <a:off x="6438900" y="3362960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"/>
          <p:cNvSpPr/>
          <p:nvPr/>
        </p:nvSpPr>
        <p:spPr>
          <a:xfrm>
            <a:off x="2385060" y="3949700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3"/>
          <p:cNvSpPr/>
          <p:nvPr/>
        </p:nvSpPr>
        <p:spPr>
          <a:xfrm>
            <a:off x="4246245" y="3949700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3"/>
          <p:cNvSpPr/>
          <p:nvPr/>
        </p:nvSpPr>
        <p:spPr>
          <a:xfrm>
            <a:off x="6438900" y="3952875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3"/>
          <p:cNvSpPr/>
          <p:nvPr/>
        </p:nvSpPr>
        <p:spPr>
          <a:xfrm>
            <a:off x="2620010" y="4540885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3"/>
          <p:cNvSpPr/>
          <p:nvPr/>
        </p:nvSpPr>
        <p:spPr>
          <a:xfrm>
            <a:off x="4961890" y="4502150"/>
            <a:ext cx="182880" cy="365760"/>
          </a:xfrm>
          <a:prstGeom prst="rightArrow">
            <a:avLst/>
          </a:prstGeom>
          <a:solidFill>
            <a:srgbClr val="1F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5"/>
          <p:cNvSpPr txBox="1">
            <a:spLocks noChangeArrowheads="1"/>
          </p:cNvSpPr>
          <p:nvPr/>
        </p:nvSpPr>
        <p:spPr bwMode="auto">
          <a:xfrm>
            <a:off x="3715068" y="87313"/>
            <a:ext cx="17138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PDF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原文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4" name="文本框 6"/>
          <p:cNvSpPr txBox="1">
            <a:spLocks noChangeArrowheads="1"/>
          </p:cNvSpPr>
          <p:nvPr/>
        </p:nvSpPr>
        <p:spPr bwMode="auto">
          <a:xfrm>
            <a:off x="3588702" y="532859"/>
            <a:ext cx="1966595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方正兰亭黑_GBK" panose="02000000000000000000" charset="-122"/>
              </a:rPr>
              <a:t>PDF Original Evidence Source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ea typeface="方正兰亭黑_GBK" panose="02000000000000000000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4433191" y="838402"/>
            <a:ext cx="27761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" y="879475"/>
            <a:ext cx="3266440" cy="41960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020" y="888365"/>
            <a:ext cx="2757170" cy="41884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90" y="879475"/>
            <a:ext cx="2792730" cy="41954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98015" y="888365"/>
            <a:ext cx="762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P33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5"/>
          <p:cNvSpPr txBox="1">
            <a:spLocks noChangeArrowheads="1"/>
          </p:cNvSpPr>
          <p:nvPr/>
        </p:nvSpPr>
        <p:spPr bwMode="auto">
          <a:xfrm>
            <a:off x="3523616" y="87313"/>
            <a:ext cx="20967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Gold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表示例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4" name="文本框 6"/>
          <p:cNvSpPr txBox="1">
            <a:spLocks noChangeArrowheads="1"/>
          </p:cNvSpPr>
          <p:nvPr/>
        </p:nvSpPr>
        <p:spPr bwMode="auto">
          <a:xfrm>
            <a:off x="3916045" y="532859"/>
            <a:ext cx="1311910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方正兰亭黑_GBK" panose="02000000000000000000" charset="-122"/>
              </a:rPr>
              <a:t>Gold Sample Table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ea typeface="方正兰亭黑_GBK" panose="02000000000000000000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4433191" y="838402"/>
            <a:ext cx="27761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7718" y="952183"/>
          <a:ext cx="7568565" cy="402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" imgW="14382750" imgH="7651750" progId="Excel.Sheet.12">
                  <p:embed/>
                </p:oleObj>
              </mc:Choice>
              <mc:Fallback>
                <p:oleObj name="" r:id="rId1" imgW="14382750" imgH="7651750" progId="Excel.Shee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7718" y="952183"/>
                        <a:ext cx="7568565" cy="402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302260" y="700405"/>
            <a:ext cx="2860040" cy="3984625"/>
          </a:xfrm>
          <a:prstGeom prst="rect">
            <a:avLst/>
          </a:prstGeom>
          <a:solidFill>
            <a:srgbClr val="212834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/>
        </p:nvSpPr>
        <p:spPr>
          <a:xfrm>
            <a:off x="400050" y="933450"/>
            <a:ext cx="2299970" cy="4768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一、</a:t>
            </a:r>
            <a:r>
              <a:rPr lang="en-US" altLang="zh-CN"/>
              <a:t>Gold</a:t>
            </a:r>
            <a:r>
              <a:rPr lang="zh-CN" altLang="en-US"/>
              <a:t>标准定义（人工）</a:t>
            </a:r>
            <a:endParaRPr lang="zh-CN" altLang="en-US"/>
          </a:p>
        </p:txBody>
      </p:sp>
      <p:sp>
        <p:nvSpPr>
          <p:cNvPr id="73" name="文本框 5"/>
          <p:cNvSpPr txBox="1">
            <a:spLocks noChangeArrowheads="1"/>
          </p:cNvSpPr>
          <p:nvPr/>
        </p:nvSpPr>
        <p:spPr bwMode="auto">
          <a:xfrm>
            <a:off x="2830196" y="87313"/>
            <a:ext cx="34836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+mj-ea"/>
                <a:ea typeface="+mj-ea"/>
              </a:rPr>
              <a:t>Gold VS </a:t>
            </a: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+mj-ea"/>
                <a:ea typeface="+mj-ea"/>
              </a:rPr>
              <a:t>自动化流程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+mj-ea"/>
              <a:ea typeface="+mj-ea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4433191" y="609802"/>
            <a:ext cx="27761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3161665" y="700405"/>
            <a:ext cx="2907665" cy="398526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/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326505" y="1618615"/>
            <a:ext cx="2202180" cy="10585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sz="10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3302635" y="936625"/>
            <a:ext cx="1703705" cy="474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302935" y="1018493"/>
            <a:ext cx="161036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zh-CN" altLang="en-US" sz="1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二、自动抽取结果</a:t>
            </a:r>
            <a:endParaRPr lang="zh-CN" altLang="en-US" sz="2000" b="1">
              <a:solidFill>
                <a:srgbClr val="212834"/>
              </a:solidFill>
              <a:latin typeface="+mj-ea"/>
              <a:ea typeface="+mj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00050" y="1018540"/>
            <a:ext cx="2299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一、</a:t>
            </a:r>
            <a:r>
              <a:rPr lang="en-US" altLang="zh-CN" sz="1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Gold</a:t>
            </a:r>
            <a:r>
              <a:rPr lang="zh-CN" altLang="en-US" sz="1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标准定义（人工）</a:t>
            </a:r>
            <a:endParaRPr lang="zh-CN" altLang="en-US" sz="14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69965" y="701040"/>
            <a:ext cx="2706370" cy="398462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: 圆角 43"/>
          <p:cNvSpPr/>
          <p:nvPr/>
        </p:nvSpPr>
        <p:spPr>
          <a:xfrm>
            <a:off x="6176645" y="935990"/>
            <a:ext cx="1406525" cy="4743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274100" y="1018493"/>
            <a:ext cx="12534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1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三、对比问题</a:t>
            </a:r>
            <a:endParaRPr lang="zh-CN" altLang="en-US" sz="2000" b="1">
              <a:solidFill>
                <a:srgbClr val="212834"/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5930" y="1745615"/>
            <a:ext cx="2551430" cy="259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必须包含：</a:t>
            </a:r>
            <a:endParaRPr lang="zh-CN" altLang="en-US" sz="1400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l"/>
            <a:endParaRPr lang="zh-CN" altLang="en-US"/>
          </a:p>
          <a:p>
            <a:pPr algn="l"/>
            <a:endParaRPr lang="en-US" altLang="zh-CN"/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人工确认真实股本变化事件</a:t>
            </a:r>
            <a:endParaRPr lang="zh-CN" altLang="en-US"/>
          </a:p>
          <a:p>
            <a:pPr algn="l"/>
            <a:endParaRPr lang="en-US" altLang="zh-CN"/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投资主体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indent="0" algn="l">
              <a:buFont typeface="Wingdings" panose="05000000000000000000" charset="0"/>
              <a:buNone/>
            </a:pP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变动类型（增资</a:t>
            </a:r>
            <a:r>
              <a:rPr lang="en-US" altLang="zh-CN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转让）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数量</a:t>
            </a:r>
            <a:r>
              <a:rPr lang="en-US" altLang="zh-CN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金额</a:t>
            </a:r>
            <a:r>
              <a:rPr lang="en-US" altLang="zh-CN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/</a:t>
            </a: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比例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PDF</a:t>
            </a: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页码证据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259455" y="1745615"/>
            <a:ext cx="2762250" cy="2176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常见错误：</a:t>
            </a:r>
            <a:endParaRPr lang="zh-CN" altLang="en-US"/>
          </a:p>
          <a:p>
            <a:pPr algn="l"/>
            <a:endParaRPr lang="en-US" altLang="zh-CN"/>
          </a:p>
          <a:p>
            <a:pPr algn="l"/>
            <a:endParaRPr lang="en-US" altLang="zh-CN"/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部分事件重复抽取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投资者信息缺失或误识别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单位错误（股/万股/万元混用）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非融资章节误识别为事件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82995" y="1548130"/>
            <a:ext cx="256413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350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主要</a:t>
            </a:r>
            <a:r>
              <a:rPr lang="zh-CN" altLang="en-US" sz="1400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问题总结：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endParaRPr lang="en-US" altLang="zh-CN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① 抽取范围过宽，将非融资文本误纳入事件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② 投资者字段不完整，存在空值或缺失结构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③ 证据链不规范，使用“概括信息”替代原文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r>
              <a:rPr lang="zh-CN" altLang="en-US">
                <a:solidFill>
                  <a:schemeClr val="bg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④ 自动与人工混合不清，gold / auto / 修正结果未分层</a:t>
            </a:r>
            <a:endParaRPr lang="zh-CN" altLang="en-US">
              <a:solidFill>
                <a:schemeClr val="bg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访问当图网  www.99ppt.com 专业的模板网站 为您提供更多优质模板"/>
          <p:cNvSpPr txBox="1">
            <a:spLocks noChangeArrowheads="1"/>
          </p:cNvSpPr>
          <p:nvPr/>
        </p:nvSpPr>
        <p:spPr bwMode="auto">
          <a:xfrm>
            <a:off x="1457960" y="87313"/>
            <a:ext cx="6228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公司股本数据字段和企业异同难点梳理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4" name="访问当图网  www.99ppt.com 专业的模板网站 为您提供更多优质模板"/>
          <p:cNvSpPr txBox="1">
            <a:spLocks noChangeArrowheads="1"/>
          </p:cNvSpPr>
          <p:nvPr/>
        </p:nvSpPr>
        <p:spPr bwMode="auto">
          <a:xfrm>
            <a:off x="3455860" y="532859"/>
            <a:ext cx="22322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方正兰亭黑_GBK" panose="02000000000000000000" charset="-122"/>
              </a:rPr>
              <a:t>Research methods and processes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ea typeface="方正兰亭黑_GBK" panose="02000000000000000000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4433191" y="838402"/>
            <a:ext cx="27761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83999" y="1056079"/>
            <a:ext cx="2110903" cy="3706238"/>
          </a:xfrm>
          <a:prstGeom prst="roundRect">
            <a:avLst>
              <a:gd name="adj" fmla="val 8975"/>
            </a:avLst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2"/>
            </p:custDataLst>
          </p:nvPr>
        </p:nvSpPr>
        <p:spPr>
          <a:xfrm>
            <a:off x="2372365" y="1056079"/>
            <a:ext cx="2110903" cy="3706238"/>
          </a:xfrm>
          <a:prstGeom prst="roundRect">
            <a:avLst>
              <a:gd name="adj" fmla="val 8975"/>
            </a:avLst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>
            <p:custDataLst>
              <p:tags r:id="rId3"/>
            </p:custDataLst>
          </p:nvPr>
        </p:nvSpPr>
        <p:spPr>
          <a:xfrm>
            <a:off x="4660731" y="1056079"/>
            <a:ext cx="2110903" cy="3706238"/>
          </a:xfrm>
          <a:prstGeom prst="roundRect">
            <a:avLst>
              <a:gd name="adj" fmla="val 8975"/>
            </a:avLst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/>
              <a:t>易1. 跨期沿革交织，抽取范围界定极易混淆（核心难点）1. 跨期沿革交织，抽取范围界定极易混淆（核心难点）1. 跨期沿革交织，抽取范围界定极易混淆（核心难点）混淆1. 跨期沿革交织，抽取范围界定极易混淆（核心难点）（核心难1. 跨期沿革交织，抽取范围界定极易混淆（核心难点）点）</a:t>
            </a:r>
            <a:endParaRPr lang="zh-CN" altLang="en-US"/>
          </a:p>
        </p:txBody>
      </p:sp>
      <p:sp>
        <p:nvSpPr>
          <p:cNvPr id="18" name="矩形: 圆角 17"/>
          <p:cNvSpPr/>
          <p:nvPr>
            <p:custDataLst>
              <p:tags r:id="rId4"/>
            </p:custDataLst>
          </p:nvPr>
        </p:nvSpPr>
        <p:spPr>
          <a:xfrm>
            <a:off x="6949098" y="1056079"/>
            <a:ext cx="2110903" cy="3706238"/>
          </a:xfrm>
          <a:prstGeom prst="roundRect">
            <a:avLst>
              <a:gd name="adj" fmla="val 8975"/>
            </a:avLst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29210" y="1602740"/>
            <a:ext cx="2165350" cy="29870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subscription_flow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表：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认购人、金额（万元）、变化后总股本（万元）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share_transfer_flow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表：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转让方、受让方、数量（万元）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equity_snapshot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表：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总股本（万股）、持股比例（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7" name="直接连接符 26"/>
          <p:cNvCxnSpPr/>
          <p:nvPr>
            <p:custDataLst>
              <p:tags r:id="rId6"/>
            </p:custDataLst>
          </p:nvPr>
        </p:nvCxnSpPr>
        <p:spPr>
          <a:xfrm>
            <a:off x="1028709" y="1570785"/>
            <a:ext cx="22021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7"/>
            </p:custDataLst>
          </p:nvPr>
        </p:nvSpPr>
        <p:spPr>
          <a:xfrm>
            <a:off x="2566035" y="1653540"/>
            <a:ext cx="1723390" cy="2549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文本框 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648672" y="1171173"/>
            <a:ext cx="155829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rgbClr val="212834"/>
                </a:solidFill>
                <a:latin typeface="华文中宋" panose="02010600040101010101" charset="-122"/>
                <a:ea typeface="华文中宋" panose="02010600040101010101" charset="-122"/>
              </a:rPr>
              <a:t>测算判断字段</a:t>
            </a:r>
            <a:endParaRPr lang="zh-CN" altLang="en-US" sz="1800" b="1">
              <a:solidFill>
                <a:srgbClr val="212834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9"/>
            </p:custDataLst>
          </p:nvPr>
        </p:nvCxnSpPr>
        <p:spPr>
          <a:xfrm>
            <a:off x="3317710" y="1570785"/>
            <a:ext cx="22021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936403" y="1171173"/>
            <a:ext cx="155829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rgbClr val="212834"/>
                </a:solidFill>
                <a:latin typeface="华文中宋" panose="02010600040101010101" charset="-122"/>
                <a:ea typeface="华文中宋" panose="02010600040101010101" charset="-122"/>
              </a:rPr>
              <a:t>企业特殊难点</a:t>
            </a:r>
            <a:endParaRPr lang="zh-CN" altLang="en-US" sz="1800" b="1">
              <a:solidFill>
                <a:srgbClr val="212834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1"/>
            </p:custDataLst>
          </p:nvPr>
        </p:nvCxnSpPr>
        <p:spPr>
          <a:xfrm>
            <a:off x="5606076" y="1570785"/>
            <a:ext cx="22021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>
            <p:custDataLst>
              <p:tags r:id="rId12"/>
            </p:custDataLst>
          </p:nvPr>
        </p:nvSpPr>
        <p:spPr>
          <a:xfrm>
            <a:off x="7143115" y="1653540"/>
            <a:ext cx="1723390" cy="2549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文本框 5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224770" y="1171173"/>
            <a:ext cx="155829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rgbClr val="212834"/>
                </a:solidFill>
                <a:latin typeface="华文中宋" panose="02010600040101010101" charset="-122"/>
                <a:ea typeface="华文中宋" panose="02010600040101010101" charset="-122"/>
              </a:rPr>
              <a:t>不同公司共性</a:t>
            </a:r>
            <a:endParaRPr lang="zh-CN" altLang="en-US" sz="1800" b="1">
              <a:solidFill>
                <a:srgbClr val="212834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14"/>
            </p:custDataLst>
          </p:nvPr>
        </p:nvCxnSpPr>
        <p:spPr>
          <a:xfrm>
            <a:off x="7894443" y="1570785"/>
            <a:ext cx="22021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5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60131" y="1171173"/>
            <a:ext cx="155829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>
                <a:solidFill>
                  <a:srgbClr val="212834"/>
                </a:solidFill>
                <a:latin typeface="华文中宋" panose="02010600040101010101" charset="-122"/>
                <a:ea typeface="华文中宋" panose="02010600040101010101" charset="-122"/>
              </a:rPr>
              <a:t>直接披露字段</a:t>
            </a:r>
            <a:endParaRPr lang="zh-CN" altLang="en-US" sz="1800" b="1">
              <a:solidFill>
                <a:srgbClr val="212834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7920" y="1602740"/>
            <a:ext cx="2040255" cy="2764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subscription_flow表：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数量（万股）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需要用金额和单价推算数量。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equity_snapshot表：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持股数（万股）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需要用总股本和持股比例推算持股数。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algn="l"/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6"/>
            </p:custDataLst>
          </p:nvPr>
        </p:nvSpPr>
        <p:spPr>
          <a:xfrm>
            <a:off x="4854575" y="1653540"/>
            <a:ext cx="1723390" cy="2549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60900" y="1549400"/>
            <a:ext cx="2131695" cy="3040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沿革极长，抽取范围界定困难：早期历史与报告期资本变动高度交织。极易将“早期非重点历史事项”与“报告期内目标提取事件”混为一谈，必须依靠强逻辑精准划定时间线和事件过滤范围。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 核心图谱非文本化且跨页断裂：关键的增资与股权转让概图为纯图片格式，且频繁跨页。直接导致纯文本抽取失效。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/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 同主体多轮穿插，相邻事件高密披露：股权转让与增资扩股常在同章节合并紧邻披露，且同一股东多轮参与。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13245" y="1653540"/>
            <a:ext cx="2251075" cy="2988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IPO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招股书共性规律：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“历史沿革” = 最核心信息源</a:t>
            </a:r>
            <a:endParaRPr lang="en-US" altLang="zh-CN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股本变化 = 增资 + 转让 + 转股组合</a:t>
            </a:r>
            <a:endParaRPr lang="en-US" altLang="zh-CN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表格</a:t>
            </a:r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/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图片+ 叙述混合表达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通用抽取难点：</a:t>
            </a:r>
            <a:endParaRPr lang="en-US" altLang="zh-CN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信息跨页分布</a:t>
            </a:r>
            <a:endParaRPr lang="en-US" altLang="zh-CN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单位不统一</a:t>
            </a:r>
            <a:endParaRPr lang="en-US" altLang="zh-CN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同一事件多种表达方式</a:t>
            </a:r>
            <a:endParaRPr lang="en-US" altLang="zh-CN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风险章节干扰严重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结构化目标：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👉 “文本理解</a:t>
            </a:r>
            <a:r>
              <a:rPr lang="en-US" altLang="zh-CN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到“事件结构化建模”</a:t>
            </a:r>
            <a:endParaRPr lang="zh-CN" altLang="en-US" sz="12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5"/>
          <p:cNvSpPr txBox="1">
            <a:spLocks noChangeArrowheads="1"/>
          </p:cNvSpPr>
          <p:nvPr/>
        </p:nvSpPr>
        <p:spPr bwMode="auto">
          <a:xfrm>
            <a:off x="3591561" y="87313"/>
            <a:ext cx="1960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存在的问题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4" name="文本框 6"/>
          <p:cNvSpPr txBox="1">
            <a:spLocks noChangeArrowheads="1"/>
          </p:cNvSpPr>
          <p:nvPr/>
        </p:nvSpPr>
        <p:spPr bwMode="auto">
          <a:xfrm>
            <a:off x="3958589" y="532859"/>
            <a:ext cx="1226820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方正兰亭黑_GBK" panose="02000000000000000000" charset="-122"/>
              </a:rPr>
              <a:t>Remaining issues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ea typeface="方正兰亭黑_GBK" panose="02000000000000000000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4433191" y="838402"/>
            <a:ext cx="27761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46"/>
          <p:cNvSpPr/>
          <p:nvPr>
            <p:custDataLst>
              <p:tags r:id="rId1"/>
            </p:custDataLst>
          </p:nvPr>
        </p:nvSpPr>
        <p:spPr>
          <a:xfrm rot="16200000">
            <a:off x="3279125" y="1446566"/>
            <a:ext cx="1260915" cy="1480065"/>
          </a:xfrm>
          <a:custGeom>
            <a:avLst/>
            <a:gdLst>
              <a:gd name="connsiteX0" fmla="*/ 1310781 w 1310781"/>
              <a:gd name="connsiteY0" fmla="*/ 672655 h 1538599"/>
              <a:gd name="connsiteX1" fmla="*/ 1310781 w 1310781"/>
              <a:gd name="connsiteY1" fmla="*/ 1307618 h 1538599"/>
              <a:gd name="connsiteX2" fmla="*/ 1185196 w 1310781"/>
              <a:gd name="connsiteY2" fmla="*/ 1307618 h 1538599"/>
              <a:gd name="connsiteX3" fmla="*/ 958977 w 1310781"/>
              <a:gd name="connsiteY3" fmla="*/ 1538599 h 1538599"/>
              <a:gd name="connsiteX4" fmla="*/ 735140 w 1310781"/>
              <a:gd name="connsiteY4" fmla="*/ 1312380 h 1538599"/>
              <a:gd name="connsiteX5" fmla="*/ 601790 w 1310781"/>
              <a:gd name="connsiteY5" fmla="*/ 1312380 h 1538599"/>
              <a:gd name="connsiteX6" fmla="*/ 601790 w 1310781"/>
              <a:gd name="connsiteY6" fmla="*/ 967755 h 1538599"/>
              <a:gd name="connsiteX7" fmla="*/ 343026 w 1310781"/>
              <a:gd name="connsiteY7" fmla="*/ 708991 h 1538599"/>
              <a:gd name="connsiteX8" fmla="*/ 5522 w 1310781"/>
              <a:gd name="connsiteY8" fmla="*/ 708991 h 1538599"/>
              <a:gd name="connsiteX9" fmla="*/ 7144 w 1310781"/>
              <a:gd name="connsiteY9" fmla="*/ 600387 h 1538599"/>
              <a:gd name="connsiteX10" fmla="*/ 150018 w 1310781"/>
              <a:gd name="connsiteY10" fmla="*/ 362263 h 1538599"/>
              <a:gd name="connsiteX11" fmla="*/ 0 w 1310781"/>
              <a:gd name="connsiteY11" fmla="*/ 95563 h 1538599"/>
              <a:gd name="connsiteX12" fmla="*/ 0 w 1310781"/>
              <a:gd name="connsiteY12" fmla="*/ 0 h 1538599"/>
              <a:gd name="connsiteX13" fmla="*/ 638126 w 1310781"/>
              <a:gd name="connsiteY13" fmla="*/ 0 h 1538599"/>
              <a:gd name="connsiteX14" fmla="*/ 1310781 w 1310781"/>
              <a:gd name="connsiteY14" fmla="*/ 672655 h 1538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10781" h="1538599">
                <a:moveTo>
                  <a:pt x="1310781" y="672655"/>
                </a:moveTo>
                <a:lnTo>
                  <a:pt x="1310781" y="1307618"/>
                </a:lnTo>
                <a:lnTo>
                  <a:pt x="1185196" y="1307618"/>
                </a:lnTo>
                <a:cubicBezTo>
                  <a:pt x="1183609" y="1498913"/>
                  <a:pt x="1046289" y="1537805"/>
                  <a:pt x="958977" y="1538599"/>
                </a:cubicBezTo>
                <a:cubicBezTo>
                  <a:pt x="863728" y="1537012"/>
                  <a:pt x="739902" y="1499705"/>
                  <a:pt x="735140" y="1312380"/>
                </a:cubicBezTo>
                <a:lnTo>
                  <a:pt x="601790" y="1312380"/>
                </a:lnTo>
                <a:lnTo>
                  <a:pt x="601790" y="967755"/>
                </a:lnTo>
                <a:cubicBezTo>
                  <a:pt x="601790" y="824844"/>
                  <a:pt x="485937" y="708991"/>
                  <a:pt x="343026" y="708991"/>
                </a:cubicBezTo>
                <a:lnTo>
                  <a:pt x="5522" y="708991"/>
                </a:lnTo>
                <a:lnTo>
                  <a:pt x="7144" y="600387"/>
                </a:lnTo>
                <a:cubicBezTo>
                  <a:pt x="108744" y="553557"/>
                  <a:pt x="150812" y="442431"/>
                  <a:pt x="150018" y="362263"/>
                </a:cubicBezTo>
                <a:cubicBezTo>
                  <a:pt x="147637" y="278126"/>
                  <a:pt x="142875" y="177319"/>
                  <a:pt x="0" y="95563"/>
                </a:cubicBezTo>
                <a:lnTo>
                  <a:pt x="0" y="0"/>
                </a:lnTo>
                <a:lnTo>
                  <a:pt x="638126" y="0"/>
                </a:lnTo>
                <a:cubicBezTo>
                  <a:pt x="1009623" y="0"/>
                  <a:pt x="1310781" y="301158"/>
                  <a:pt x="1310781" y="6726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2"/>
            </p:custDataLst>
          </p:nvPr>
        </p:nvSpPr>
        <p:spPr>
          <a:xfrm>
            <a:off x="4186556" y="1696672"/>
            <a:ext cx="476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01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Arial Unicode MS" panose="020B0604020202020204" pitchFamily="34" charset="-122"/>
              <a:cs typeface="Segoe UI" panose="020B0502040204020203" pitchFamily="34" charset="0"/>
            </a:endParaRPr>
          </a:p>
        </p:txBody>
      </p:sp>
      <p:sp>
        <p:nvSpPr>
          <p:cNvPr id="24" name="任意多边形 49"/>
          <p:cNvSpPr/>
          <p:nvPr>
            <p:custDataLst>
              <p:tags r:id="rId3"/>
            </p:custDataLst>
          </p:nvPr>
        </p:nvSpPr>
        <p:spPr>
          <a:xfrm rot="16200000">
            <a:off x="4541433" y="1671194"/>
            <a:ext cx="1487182" cy="1257072"/>
          </a:xfrm>
          <a:custGeom>
            <a:avLst/>
            <a:gdLst>
              <a:gd name="connsiteX0" fmla="*/ 1545997 w 1545997"/>
              <a:gd name="connsiteY0" fmla="*/ 0 h 1306787"/>
              <a:gd name="connsiteX1" fmla="*/ 1545997 w 1545997"/>
              <a:gd name="connsiteY1" fmla="*/ 634132 h 1306787"/>
              <a:gd name="connsiteX2" fmla="*/ 873342 w 1545997"/>
              <a:gd name="connsiteY2" fmla="*/ 1306787 h 1306787"/>
              <a:gd name="connsiteX3" fmla="*/ 230981 w 1545997"/>
              <a:gd name="connsiteY3" fmla="*/ 1306787 h 1306787"/>
              <a:gd name="connsiteX4" fmla="*/ 230981 w 1545997"/>
              <a:gd name="connsiteY4" fmla="*/ 1161117 h 1306787"/>
              <a:gd name="connsiteX5" fmla="*/ 0 w 1545997"/>
              <a:gd name="connsiteY5" fmla="*/ 934898 h 1306787"/>
              <a:gd name="connsiteX6" fmla="*/ 226219 w 1545997"/>
              <a:gd name="connsiteY6" fmla="*/ 711061 h 1306787"/>
              <a:gd name="connsiteX7" fmla="*/ 226219 w 1545997"/>
              <a:gd name="connsiteY7" fmla="*/ 597796 h 1306787"/>
              <a:gd name="connsiteX8" fmla="*/ 578242 w 1545997"/>
              <a:gd name="connsiteY8" fmla="*/ 597796 h 1306787"/>
              <a:gd name="connsiteX9" fmla="*/ 837006 w 1545997"/>
              <a:gd name="connsiteY9" fmla="*/ 339032 h 1306787"/>
              <a:gd name="connsiteX10" fmla="*/ 837006 w 1545997"/>
              <a:gd name="connsiteY10" fmla="*/ 5544 h 1306787"/>
              <a:gd name="connsiteX11" fmla="*/ 944163 w 1545997"/>
              <a:gd name="connsiteY11" fmla="*/ 7144 h 1306787"/>
              <a:gd name="connsiteX12" fmla="*/ 1182287 w 1545997"/>
              <a:gd name="connsiteY12" fmla="*/ 150018 h 1306787"/>
              <a:gd name="connsiteX13" fmla="*/ 1448987 w 1545997"/>
              <a:gd name="connsiteY13" fmla="*/ 0 h 1306787"/>
              <a:gd name="connsiteX14" fmla="*/ 1545997 w 1545997"/>
              <a:gd name="connsiteY14" fmla="*/ 0 h 130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45997" h="1306787">
                <a:moveTo>
                  <a:pt x="1545997" y="0"/>
                </a:moveTo>
                <a:lnTo>
                  <a:pt x="1545997" y="634132"/>
                </a:lnTo>
                <a:cubicBezTo>
                  <a:pt x="1545997" y="1005629"/>
                  <a:pt x="1244839" y="1306787"/>
                  <a:pt x="873342" y="1306787"/>
                </a:cubicBezTo>
                <a:lnTo>
                  <a:pt x="230981" y="1306787"/>
                </a:lnTo>
                <a:lnTo>
                  <a:pt x="230981" y="1161117"/>
                </a:lnTo>
                <a:cubicBezTo>
                  <a:pt x="39686" y="1159530"/>
                  <a:pt x="794" y="1022210"/>
                  <a:pt x="0" y="934898"/>
                </a:cubicBezTo>
                <a:cubicBezTo>
                  <a:pt x="1587" y="839649"/>
                  <a:pt x="38894" y="715823"/>
                  <a:pt x="226219" y="711061"/>
                </a:cubicBezTo>
                <a:lnTo>
                  <a:pt x="226219" y="597796"/>
                </a:lnTo>
                <a:lnTo>
                  <a:pt x="578242" y="597796"/>
                </a:lnTo>
                <a:cubicBezTo>
                  <a:pt x="721153" y="597796"/>
                  <a:pt x="837006" y="481943"/>
                  <a:pt x="837006" y="339032"/>
                </a:cubicBezTo>
                <a:lnTo>
                  <a:pt x="837006" y="5544"/>
                </a:lnTo>
                <a:lnTo>
                  <a:pt x="944163" y="7144"/>
                </a:lnTo>
                <a:cubicBezTo>
                  <a:pt x="990993" y="108744"/>
                  <a:pt x="1102119" y="150812"/>
                  <a:pt x="1182287" y="150018"/>
                </a:cubicBezTo>
                <a:cubicBezTo>
                  <a:pt x="1266424" y="147637"/>
                  <a:pt x="1367231" y="142875"/>
                  <a:pt x="1448987" y="0"/>
                </a:cubicBezTo>
                <a:lnTo>
                  <a:pt x="15459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4"/>
            </p:custDataLst>
          </p:nvPr>
        </p:nvSpPr>
        <p:spPr>
          <a:xfrm>
            <a:off x="5338789" y="2649460"/>
            <a:ext cx="476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02</a:t>
            </a:r>
            <a:endParaRPr lang="zh-CN" altLang="en-US" sz="1800" dirty="0">
              <a:solidFill>
                <a:schemeClr val="bg1"/>
              </a:solidFill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任意多边形 52"/>
          <p:cNvSpPr/>
          <p:nvPr>
            <p:custDataLst>
              <p:tags r:id="rId5"/>
            </p:custDataLst>
          </p:nvPr>
        </p:nvSpPr>
        <p:spPr>
          <a:xfrm rot="16200000">
            <a:off x="4547655" y="2934245"/>
            <a:ext cx="1249956" cy="1481857"/>
          </a:xfrm>
          <a:custGeom>
            <a:avLst/>
            <a:gdLst>
              <a:gd name="connsiteX0" fmla="*/ 1299389 w 1299389"/>
              <a:gd name="connsiteY0" fmla="*/ 1423366 h 1540461"/>
              <a:gd name="connsiteX1" fmla="*/ 1299389 w 1299389"/>
              <a:gd name="connsiteY1" fmla="*/ 1540461 h 1540461"/>
              <a:gd name="connsiteX2" fmla="*/ 672655 w 1299389"/>
              <a:gd name="connsiteY2" fmla="*/ 1540461 h 1540461"/>
              <a:gd name="connsiteX3" fmla="*/ 0 w 1299389"/>
              <a:gd name="connsiteY3" fmla="*/ 867806 h 1540461"/>
              <a:gd name="connsiteX4" fmla="*/ 0 w 1299389"/>
              <a:gd name="connsiteY4" fmla="*/ 230981 h 1540461"/>
              <a:gd name="connsiteX5" fmla="*/ 140701 w 1299389"/>
              <a:gd name="connsiteY5" fmla="*/ 230981 h 1540461"/>
              <a:gd name="connsiteX6" fmla="*/ 366920 w 1299389"/>
              <a:gd name="connsiteY6" fmla="*/ 0 h 1540461"/>
              <a:gd name="connsiteX7" fmla="*/ 590757 w 1299389"/>
              <a:gd name="connsiteY7" fmla="*/ 226219 h 1540461"/>
              <a:gd name="connsiteX8" fmla="*/ 708991 w 1299389"/>
              <a:gd name="connsiteY8" fmla="*/ 226219 h 1540461"/>
              <a:gd name="connsiteX9" fmla="*/ 708991 w 1299389"/>
              <a:gd name="connsiteY9" fmla="*/ 572706 h 1540461"/>
              <a:gd name="connsiteX10" fmla="*/ 967755 w 1299389"/>
              <a:gd name="connsiteY10" fmla="*/ 831470 h 1540461"/>
              <a:gd name="connsiteX11" fmla="*/ 1293545 w 1299389"/>
              <a:gd name="connsiteY11" fmla="*/ 831470 h 1540461"/>
              <a:gd name="connsiteX12" fmla="*/ 1292245 w 1299389"/>
              <a:gd name="connsiteY12" fmla="*/ 918542 h 1540461"/>
              <a:gd name="connsiteX13" fmla="*/ 1149371 w 1299389"/>
              <a:gd name="connsiteY13" fmla="*/ 1156666 h 1540461"/>
              <a:gd name="connsiteX14" fmla="*/ 1299389 w 1299389"/>
              <a:gd name="connsiteY14" fmla="*/ 1423366 h 1540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99389" h="1540461">
                <a:moveTo>
                  <a:pt x="1299389" y="1423366"/>
                </a:moveTo>
                <a:lnTo>
                  <a:pt x="1299389" y="1540461"/>
                </a:lnTo>
                <a:lnTo>
                  <a:pt x="672655" y="1540461"/>
                </a:lnTo>
                <a:cubicBezTo>
                  <a:pt x="301158" y="1540461"/>
                  <a:pt x="0" y="1239303"/>
                  <a:pt x="0" y="867806"/>
                </a:cubicBezTo>
                <a:lnTo>
                  <a:pt x="0" y="230981"/>
                </a:lnTo>
                <a:lnTo>
                  <a:pt x="140701" y="230981"/>
                </a:lnTo>
                <a:cubicBezTo>
                  <a:pt x="142288" y="39686"/>
                  <a:pt x="279608" y="794"/>
                  <a:pt x="366920" y="0"/>
                </a:cubicBezTo>
                <a:cubicBezTo>
                  <a:pt x="462169" y="1587"/>
                  <a:pt x="585995" y="38894"/>
                  <a:pt x="590757" y="226219"/>
                </a:cubicBezTo>
                <a:lnTo>
                  <a:pt x="708991" y="226219"/>
                </a:lnTo>
                <a:lnTo>
                  <a:pt x="708991" y="572706"/>
                </a:lnTo>
                <a:cubicBezTo>
                  <a:pt x="708991" y="715617"/>
                  <a:pt x="824844" y="831470"/>
                  <a:pt x="967755" y="831470"/>
                </a:cubicBezTo>
                <a:lnTo>
                  <a:pt x="1293545" y="831470"/>
                </a:lnTo>
                <a:lnTo>
                  <a:pt x="1292245" y="918542"/>
                </a:lnTo>
                <a:cubicBezTo>
                  <a:pt x="1190645" y="965372"/>
                  <a:pt x="1148577" y="1076498"/>
                  <a:pt x="1149371" y="1156666"/>
                </a:cubicBezTo>
                <a:cubicBezTo>
                  <a:pt x="1151752" y="1240803"/>
                  <a:pt x="1156514" y="1341610"/>
                  <a:pt x="1299389" y="14233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6"/>
            </p:custDataLst>
          </p:nvPr>
        </p:nvSpPr>
        <p:spPr>
          <a:xfrm>
            <a:off x="4431703" y="3732901"/>
            <a:ext cx="476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03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任意多边形 55"/>
          <p:cNvSpPr/>
          <p:nvPr>
            <p:custDataLst>
              <p:tags r:id="rId7"/>
            </p:custDataLst>
          </p:nvPr>
        </p:nvSpPr>
        <p:spPr>
          <a:xfrm rot="16200000">
            <a:off x="3059079" y="2934398"/>
            <a:ext cx="1476225" cy="1255281"/>
          </a:xfrm>
          <a:custGeom>
            <a:avLst/>
            <a:gdLst>
              <a:gd name="connsiteX0" fmla="*/ 1534606 w 1534606"/>
              <a:gd name="connsiteY0" fmla="*/ 350357 h 1304925"/>
              <a:gd name="connsiteX1" fmla="*/ 1308387 w 1534606"/>
              <a:gd name="connsiteY1" fmla="*/ 574194 h 1304925"/>
              <a:gd name="connsiteX2" fmla="*/ 1308387 w 1534606"/>
              <a:gd name="connsiteY2" fmla="*/ 708991 h 1304925"/>
              <a:gd name="connsiteX3" fmla="*/ 967755 w 1534606"/>
              <a:gd name="connsiteY3" fmla="*/ 708991 h 1304925"/>
              <a:gd name="connsiteX4" fmla="*/ 708991 w 1534606"/>
              <a:gd name="connsiteY4" fmla="*/ 967755 h 1304925"/>
              <a:gd name="connsiteX5" fmla="*/ 708991 w 1534606"/>
              <a:gd name="connsiteY5" fmla="*/ 1299155 h 1304925"/>
              <a:gd name="connsiteX6" fmla="*/ 616950 w 1534606"/>
              <a:gd name="connsiteY6" fmla="*/ 1297781 h 1304925"/>
              <a:gd name="connsiteX7" fmla="*/ 378826 w 1534606"/>
              <a:gd name="connsiteY7" fmla="*/ 1154907 h 1304925"/>
              <a:gd name="connsiteX8" fmla="*/ 112126 w 1534606"/>
              <a:gd name="connsiteY8" fmla="*/ 1304925 h 1304925"/>
              <a:gd name="connsiteX9" fmla="*/ 0 w 1534606"/>
              <a:gd name="connsiteY9" fmla="*/ 1304925 h 1304925"/>
              <a:gd name="connsiteX10" fmla="*/ 0 w 1534606"/>
              <a:gd name="connsiteY10" fmla="*/ 672655 h 1304925"/>
              <a:gd name="connsiteX11" fmla="*/ 672655 w 1534606"/>
              <a:gd name="connsiteY11" fmla="*/ 0 h 1304925"/>
              <a:gd name="connsiteX12" fmla="*/ 1303624 w 1534606"/>
              <a:gd name="connsiteY12" fmla="*/ 0 h 1304925"/>
              <a:gd name="connsiteX13" fmla="*/ 1303624 w 1534606"/>
              <a:gd name="connsiteY13" fmla="*/ 124138 h 1304925"/>
              <a:gd name="connsiteX14" fmla="*/ 1534606 w 1534606"/>
              <a:gd name="connsiteY14" fmla="*/ 350357 h 130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34606" h="1304925">
                <a:moveTo>
                  <a:pt x="1534606" y="350357"/>
                </a:moveTo>
                <a:cubicBezTo>
                  <a:pt x="1533019" y="445606"/>
                  <a:pt x="1495712" y="569432"/>
                  <a:pt x="1308387" y="574194"/>
                </a:cubicBezTo>
                <a:lnTo>
                  <a:pt x="1308387" y="708991"/>
                </a:lnTo>
                <a:lnTo>
                  <a:pt x="967755" y="708991"/>
                </a:lnTo>
                <a:cubicBezTo>
                  <a:pt x="824844" y="708991"/>
                  <a:pt x="708991" y="824844"/>
                  <a:pt x="708991" y="967755"/>
                </a:cubicBezTo>
                <a:lnTo>
                  <a:pt x="708991" y="1299155"/>
                </a:lnTo>
                <a:lnTo>
                  <a:pt x="616950" y="1297781"/>
                </a:lnTo>
                <a:cubicBezTo>
                  <a:pt x="570120" y="1196181"/>
                  <a:pt x="458994" y="1154113"/>
                  <a:pt x="378826" y="1154907"/>
                </a:cubicBezTo>
                <a:cubicBezTo>
                  <a:pt x="294689" y="1157288"/>
                  <a:pt x="193882" y="1162050"/>
                  <a:pt x="112126" y="1304925"/>
                </a:cubicBezTo>
                <a:lnTo>
                  <a:pt x="0" y="1304925"/>
                </a:lnTo>
                <a:lnTo>
                  <a:pt x="0" y="672655"/>
                </a:lnTo>
                <a:cubicBezTo>
                  <a:pt x="0" y="301158"/>
                  <a:pt x="301158" y="0"/>
                  <a:pt x="672655" y="0"/>
                </a:cubicBezTo>
                <a:lnTo>
                  <a:pt x="1303624" y="0"/>
                </a:lnTo>
                <a:lnTo>
                  <a:pt x="1303624" y="124138"/>
                </a:lnTo>
                <a:cubicBezTo>
                  <a:pt x="1494920" y="125725"/>
                  <a:pt x="1533812" y="263045"/>
                  <a:pt x="1534606" y="3503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>
            <p:custDataLst>
              <p:tags r:id="rId8"/>
            </p:custDataLst>
          </p:nvPr>
        </p:nvSpPr>
        <p:spPr>
          <a:xfrm>
            <a:off x="3260249" y="2861230"/>
            <a:ext cx="476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04</a:t>
            </a:r>
            <a:endParaRPr lang="zh-CN" altLang="en-US" sz="1800" dirty="0">
              <a:solidFill>
                <a:schemeClr val="bg1"/>
              </a:solidFill>
              <a:latin typeface="+mj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文本框 29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36082" y="1636556"/>
            <a:ext cx="242506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Calibri" panose="020F0502020204030204" pitchFamily="34" charset="0"/>
              </a:rPr>
              <a:t>入口过宽（最关键问题）</a:t>
            </a:r>
            <a:endParaRPr lang="zh-CN" altLang="en-US" sz="1600" b="1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Calibri" panose="020F0502020204030204" pitchFamily="34" charset="0"/>
            </a:endParaRPr>
          </a:p>
        </p:txBody>
      </p:sp>
      <p:sp>
        <p:nvSpPr>
          <p:cNvPr id="31" name="矩形 30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>
            <p:custDataLst>
              <p:tags r:id="rId10"/>
            </p:custDataLst>
          </p:nvPr>
        </p:nvSpPr>
        <p:spPr>
          <a:xfrm>
            <a:off x="536082" y="2114517"/>
            <a:ext cx="251502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未有效过滤章节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Calibri" panose="020F0502020204030204" pitchFamily="34" charset="0"/>
            </a:endParaRPr>
          </a:p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风险因素/公告内容混入抽取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Calibri" panose="020F0502020204030204" pitchFamily="34" charset="0"/>
            </a:endParaRPr>
          </a:p>
        </p:txBody>
      </p:sp>
      <p:cxnSp>
        <p:nvCxnSpPr>
          <p:cNvPr id="32" name="直接连接符 31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CxnSpPr/>
          <p:nvPr>
            <p:custDataLst>
              <p:tags r:id="rId11"/>
            </p:custDataLst>
          </p:nvPr>
        </p:nvCxnSpPr>
        <p:spPr>
          <a:xfrm>
            <a:off x="641327" y="1973547"/>
            <a:ext cx="18650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36082" y="3225048"/>
            <a:ext cx="160972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Calibri" panose="020F0502020204030204" pitchFamily="34" charset="0"/>
              </a:rPr>
              <a:t>自动化质量偏低</a:t>
            </a:r>
            <a:endParaRPr lang="zh-CN" altLang="en-US" sz="1600" b="1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Calibri" panose="020F0502020204030204" pitchFamily="34" charset="0"/>
            </a:endParaRPr>
          </a:p>
        </p:txBody>
      </p:sp>
      <p:sp>
        <p:nvSpPr>
          <p:cNvPr id="34" name="矩形 33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>
            <p:custDataLst>
              <p:tags r:id="rId13"/>
            </p:custDataLst>
          </p:nvPr>
        </p:nvSpPr>
        <p:spPr>
          <a:xfrm>
            <a:off x="536082" y="3732854"/>
            <a:ext cx="251502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输出事件噪声大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Calibri" panose="020F0502020204030204" pitchFamily="34" charset="0"/>
            </a:endParaRPr>
          </a:p>
          <a:p>
            <a: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review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机制不清晰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Calibri" panose="020F0502020204030204" pitchFamily="34" charset="0"/>
            </a:endParaRPr>
          </a:p>
        </p:txBody>
      </p:sp>
      <p:cxnSp>
        <p:nvCxnSpPr>
          <p:cNvPr id="35" name="直接连接符 34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CxnSpPr/>
          <p:nvPr>
            <p:custDataLst>
              <p:tags r:id="rId14"/>
            </p:custDataLst>
          </p:nvPr>
        </p:nvCxnSpPr>
        <p:spPr>
          <a:xfrm>
            <a:off x="641327" y="3562039"/>
            <a:ext cx="18650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883266" y="3303666"/>
            <a:ext cx="166751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Gold</a:t>
            </a:r>
            <a:r>
              <a:rPr lang="zh-CN" altLang="en-US" sz="1600" b="1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标准不稳定</a:t>
            </a:r>
            <a:endParaRPr lang="zh-CN" altLang="en-US" sz="1600" b="1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Calibri" panose="020F0502020204030204" pitchFamily="34" charset="0"/>
            </a:endParaRPr>
          </a:p>
        </p:txBody>
      </p:sp>
      <p:sp>
        <p:nvSpPr>
          <p:cNvPr id="37" name="矩形 36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>
            <p:custDataLst>
              <p:tags r:id="rId16"/>
            </p:custDataLst>
          </p:nvPr>
        </p:nvSpPr>
        <p:spPr>
          <a:xfrm>
            <a:off x="5979373" y="3733367"/>
            <a:ext cx="257203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证据不完全回源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PDF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Calibri" panose="020F0502020204030204" pitchFamily="34" charset="0"/>
            </a:endParaRPr>
          </a:p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部分为概括而非原文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Calibri" panose="020F0502020204030204" pitchFamily="34" charset="0"/>
            </a:endParaRPr>
          </a:p>
        </p:txBody>
      </p:sp>
      <p:cxnSp>
        <p:nvCxnSpPr>
          <p:cNvPr id="38" name="直接连接符 37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CxnSpPr/>
          <p:nvPr>
            <p:custDataLst>
              <p:tags r:id="rId17"/>
            </p:custDataLst>
          </p:nvPr>
        </p:nvCxnSpPr>
        <p:spPr>
          <a:xfrm>
            <a:off x="8246823" y="3640657"/>
            <a:ext cx="18650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221715" y="1636556"/>
            <a:ext cx="140589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Calibri" panose="020F0502020204030204" pitchFamily="34" charset="0"/>
              </a:rPr>
              <a:t>空投资者问题</a:t>
            </a:r>
            <a:endParaRPr lang="zh-CN" altLang="en-US" sz="1600" b="1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Calibri" panose="020F0502020204030204" pitchFamily="34" charset="0"/>
            </a:endParaRPr>
          </a:p>
        </p:txBody>
      </p:sp>
      <p:sp>
        <p:nvSpPr>
          <p:cNvPr id="40" name="矩形 39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>
            <p:custDataLst>
              <p:tags r:id="rId19"/>
            </p:custDataLst>
          </p:nvPr>
        </p:nvSpPr>
        <p:spPr>
          <a:xfrm>
            <a:off x="6056202" y="2114517"/>
            <a:ext cx="2572038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投资者缺失仍进入结果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Calibri" panose="020F0502020204030204" pitchFamily="34" charset="0"/>
            </a:endParaRPr>
          </a:p>
          <a:p>
            <a:pPr marL="171450" indent="-1714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Calibri" panose="020F0502020204030204" pitchFamily="34" charset="0"/>
              </a:rPr>
              <a:t>导致“虚假融资事件”</a:t>
            </a:r>
            <a:endParaRPr lang="zh-CN" altLang="en-US" sz="900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cxnSp>
        <p:nvCxnSpPr>
          <p:cNvPr id="41" name="直接连接符 40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CxnSpPr/>
          <p:nvPr>
            <p:custDataLst>
              <p:tags r:id="rId20"/>
            </p:custDataLst>
          </p:nvPr>
        </p:nvCxnSpPr>
        <p:spPr>
          <a:xfrm>
            <a:off x="8323652" y="1973547"/>
            <a:ext cx="18650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/>
        </p:nvSpPr>
        <p:spPr>
          <a:xfrm>
            <a:off x="169283" y="1683214"/>
            <a:ext cx="366799" cy="3667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椭圆 42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/>
        </p:nvSpPr>
        <p:spPr>
          <a:xfrm>
            <a:off x="161772" y="3259729"/>
            <a:ext cx="366799" cy="3667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椭圆 43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/>
        </p:nvSpPr>
        <p:spPr>
          <a:xfrm>
            <a:off x="8627605" y="1696547"/>
            <a:ext cx="366799" cy="3667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椭圆 44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/>
        </p:nvSpPr>
        <p:spPr>
          <a:xfrm>
            <a:off x="8620094" y="3273062"/>
            <a:ext cx="366799" cy="3667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Group 112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GrpSpPr/>
          <p:nvPr/>
        </p:nvGrpSpPr>
        <p:grpSpPr>
          <a:xfrm>
            <a:off x="8709940" y="3368815"/>
            <a:ext cx="187106" cy="175292"/>
            <a:chOff x="5368132" y="3540125"/>
            <a:chExt cx="465138" cy="435769"/>
          </a:xfrm>
          <a:solidFill>
            <a:schemeClr val="bg1"/>
          </a:solidFill>
        </p:grpSpPr>
        <p:sp>
          <p:nvSpPr>
            <p:cNvPr id="47" name="AutoShape 110"/>
            <p:cNvSpPr/>
            <p:nvPr/>
          </p:nvSpPr>
          <p:spPr bwMode="auto">
            <a:xfrm>
              <a:off x="5426869" y="3598069"/>
              <a:ext cx="347663" cy="2325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8" name="AutoShape 111"/>
            <p:cNvSpPr/>
            <p:nvPr/>
          </p:nvSpPr>
          <p:spPr bwMode="auto">
            <a:xfrm>
              <a:off x="5368132" y="3540125"/>
              <a:ext cx="465138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49" name="AutoShape 112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SpPr/>
          <p:nvPr/>
        </p:nvSpPr>
        <p:spPr bwMode="auto">
          <a:xfrm>
            <a:off x="251466" y="3364332"/>
            <a:ext cx="187410" cy="186584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50" name="Group 124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GrpSpPr/>
          <p:nvPr/>
        </p:nvGrpSpPr>
        <p:grpSpPr>
          <a:xfrm>
            <a:off x="8717451" y="1801241"/>
            <a:ext cx="187106" cy="157411"/>
            <a:chOff x="5368132" y="2625725"/>
            <a:chExt cx="465138" cy="391319"/>
          </a:xfrm>
          <a:solidFill>
            <a:schemeClr val="bg1"/>
          </a:solidFill>
        </p:grpSpPr>
        <p:sp>
          <p:nvSpPr>
            <p:cNvPr id="51" name="AutoShape 120"/>
            <p:cNvSpPr/>
            <p:nvPr/>
          </p:nvSpPr>
          <p:spPr bwMode="auto">
            <a:xfrm>
              <a:off x="5484813" y="2727325"/>
              <a:ext cx="231775" cy="231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2" name="AutoShape 121"/>
            <p:cNvSpPr/>
            <p:nvPr/>
          </p:nvSpPr>
          <p:spPr bwMode="auto">
            <a:xfrm>
              <a:off x="5542757" y="2785269"/>
              <a:ext cx="65088" cy="650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3" name="AutoShape 122"/>
            <p:cNvSpPr/>
            <p:nvPr/>
          </p:nvSpPr>
          <p:spPr bwMode="auto">
            <a:xfrm>
              <a:off x="5368132" y="2625725"/>
              <a:ext cx="465138" cy="39131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54" name="组合 53" descr="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"/>
          <p:cNvGrpSpPr/>
          <p:nvPr/>
        </p:nvGrpSpPr>
        <p:grpSpPr>
          <a:xfrm>
            <a:off x="259289" y="1773220"/>
            <a:ext cx="186787" cy="186787"/>
            <a:chOff x="3191434" y="2145028"/>
            <a:chExt cx="359165" cy="359165"/>
          </a:xfrm>
          <a:solidFill>
            <a:schemeClr val="bg1"/>
          </a:solidFill>
        </p:grpSpPr>
        <p:sp>
          <p:nvSpPr>
            <p:cNvPr id="55" name="AutoShape 123"/>
            <p:cNvSpPr/>
            <p:nvPr/>
          </p:nvSpPr>
          <p:spPr bwMode="auto">
            <a:xfrm>
              <a:off x="319143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6" name="AutoShape 124"/>
            <p:cNvSpPr/>
            <p:nvPr/>
          </p:nvSpPr>
          <p:spPr bwMode="auto">
            <a:xfrm>
              <a:off x="3292736" y="2245717"/>
              <a:ext cx="157173" cy="1571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7" name="AutoShape 125"/>
            <p:cNvSpPr/>
            <p:nvPr/>
          </p:nvSpPr>
          <p:spPr bwMode="auto">
            <a:xfrm>
              <a:off x="3325891" y="2279484"/>
              <a:ext cx="90253" cy="9025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5"/>
          <p:cNvSpPr txBox="1">
            <a:spLocks noChangeArrowheads="1"/>
          </p:cNvSpPr>
          <p:nvPr/>
        </p:nvSpPr>
        <p:spPr bwMode="auto">
          <a:xfrm>
            <a:off x="3769361" y="87313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改进计划</a:t>
            </a:r>
            <a:endParaRPr lang="zh-CN" altLang="en-US" sz="2800" b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4" name="文本框 6"/>
          <p:cNvSpPr txBox="1">
            <a:spLocks noChangeArrowheads="1"/>
          </p:cNvSpPr>
          <p:nvPr/>
        </p:nvSpPr>
        <p:spPr bwMode="auto">
          <a:xfrm>
            <a:off x="3916361" y="532859"/>
            <a:ext cx="1311275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ea typeface="方正兰亭黑_GBK" panose="02000000000000000000" charset="-122"/>
              </a:rPr>
              <a:t>Improvement plan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ea typeface="方正兰亭黑_GBK" panose="02000000000000000000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4433191" y="838402"/>
            <a:ext cx="27761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75718" y="2368166"/>
            <a:ext cx="984168" cy="99297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8" name="Oval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97874" y="2364766"/>
            <a:ext cx="984168" cy="99297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0" name="Freeform 10"/>
          <p:cNvSpPr/>
          <p:nvPr>
            <p:custDataLst>
              <p:tags r:id="rId3"/>
            </p:custDataLst>
          </p:nvPr>
        </p:nvSpPr>
        <p:spPr bwMode="auto">
          <a:xfrm>
            <a:off x="974283" y="1856362"/>
            <a:ext cx="2034628" cy="1144300"/>
          </a:xfrm>
          <a:custGeom>
            <a:avLst/>
            <a:gdLst>
              <a:gd name="T0" fmla="*/ 583 w 597"/>
              <a:gd name="T1" fmla="*/ 291 h 333"/>
              <a:gd name="T2" fmla="*/ 291 w 597"/>
              <a:gd name="T3" fmla="*/ 0 h 333"/>
              <a:gd name="T4" fmla="*/ 0 w 597"/>
              <a:gd name="T5" fmla="*/ 291 h 333"/>
              <a:gd name="T6" fmla="*/ 49 w 597"/>
              <a:gd name="T7" fmla="*/ 291 h 333"/>
              <a:gd name="T8" fmla="*/ 291 w 597"/>
              <a:gd name="T9" fmla="*/ 49 h 333"/>
              <a:gd name="T10" fmla="*/ 534 w 597"/>
              <a:gd name="T11" fmla="*/ 291 h 333"/>
              <a:gd name="T12" fmla="*/ 520 w 597"/>
              <a:gd name="T13" fmla="*/ 291 h 333"/>
              <a:gd name="T14" fmla="*/ 559 w 597"/>
              <a:gd name="T15" fmla="*/ 333 h 333"/>
              <a:gd name="T16" fmla="*/ 597 w 597"/>
              <a:gd name="T17" fmla="*/ 291 h 333"/>
              <a:gd name="T18" fmla="*/ 583 w 597"/>
              <a:gd name="T19" fmla="*/ 291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7" h="333">
                <a:moveTo>
                  <a:pt x="583" y="291"/>
                </a:moveTo>
                <a:cubicBezTo>
                  <a:pt x="583" y="130"/>
                  <a:pt x="453" y="0"/>
                  <a:pt x="291" y="0"/>
                </a:cubicBezTo>
                <a:cubicBezTo>
                  <a:pt x="130" y="0"/>
                  <a:pt x="0" y="130"/>
                  <a:pt x="0" y="291"/>
                </a:cubicBezTo>
                <a:cubicBezTo>
                  <a:pt x="49" y="291"/>
                  <a:pt x="49" y="291"/>
                  <a:pt x="49" y="291"/>
                </a:cubicBezTo>
                <a:cubicBezTo>
                  <a:pt x="49" y="157"/>
                  <a:pt x="158" y="49"/>
                  <a:pt x="291" y="49"/>
                </a:cubicBezTo>
                <a:cubicBezTo>
                  <a:pt x="425" y="49"/>
                  <a:pt x="534" y="157"/>
                  <a:pt x="534" y="291"/>
                </a:cubicBezTo>
                <a:cubicBezTo>
                  <a:pt x="520" y="291"/>
                  <a:pt x="520" y="291"/>
                  <a:pt x="520" y="291"/>
                </a:cubicBezTo>
                <a:cubicBezTo>
                  <a:pt x="559" y="333"/>
                  <a:pt x="559" y="333"/>
                  <a:pt x="559" y="333"/>
                </a:cubicBezTo>
                <a:cubicBezTo>
                  <a:pt x="597" y="291"/>
                  <a:pt x="597" y="291"/>
                  <a:pt x="597" y="291"/>
                </a:cubicBezTo>
                <a:lnTo>
                  <a:pt x="583" y="2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Oval 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13231" y="2368166"/>
            <a:ext cx="985867" cy="99297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2" name="Oval 1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937087" y="2364766"/>
            <a:ext cx="984168" cy="99297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3" name="Freeform 14"/>
          <p:cNvSpPr/>
          <p:nvPr>
            <p:custDataLst>
              <p:tags r:id="rId6"/>
            </p:custDataLst>
          </p:nvPr>
        </p:nvSpPr>
        <p:spPr bwMode="auto">
          <a:xfrm>
            <a:off x="4616895" y="1863179"/>
            <a:ext cx="2029527" cy="1144300"/>
          </a:xfrm>
          <a:custGeom>
            <a:avLst/>
            <a:gdLst>
              <a:gd name="T0" fmla="*/ 582 w 596"/>
              <a:gd name="T1" fmla="*/ 291 h 333"/>
              <a:gd name="T2" fmla="*/ 291 w 596"/>
              <a:gd name="T3" fmla="*/ 0 h 333"/>
              <a:gd name="T4" fmla="*/ 0 w 596"/>
              <a:gd name="T5" fmla="*/ 266 h 333"/>
              <a:gd name="T6" fmla="*/ 24 w 596"/>
              <a:gd name="T7" fmla="*/ 240 h 333"/>
              <a:gd name="T8" fmla="*/ 49 w 596"/>
              <a:gd name="T9" fmla="*/ 268 h 333"/>
              <a:gd name="T10" fmla="*/ 291 w 596"/>
              <a:gd name="T11" fmla="*/ 49 h 333"/>
              <a:gd name="T12" fmla="*/ 533 w 596"/>
              <a:gd name="T13" fmla="*/ 291 h 333"/>
              <a:gd name="T14" fmla="*/ 520 w 596"/>
              <a:gd name="T15" fmla="*/ 291 h 333"/>
              <a:gd name="T16" fmla="*/ 558 w 596"/>
              <a:gd name="T17" fmla="*/ 333 h 333"/>
              <a:gd name="T18" fmla="*/ 596 w 596"/>
              <a:gd name="T19" fmla="*/ 291 h 333"/>
              <a:gd name="T20" fmla="*/ 582 w 596"/>
              <a:gd name="T21" fmla="*/ 291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6" h="333">
                <a:moveTo>
                  <a:pt x="582" y="291"/>
                </a:moveTo>
                <a:cubicBezTo>
                  <a:pt x="582" y="130"/>
                  <a:pt x="452" y="0"/>
                  <a:pt x="291" y="0"/>
                </a:cubicBezTo>
                <a:cubicBezTo>
                  <a:pt x="138" y="0"/>
                  <a:pt x="13" y="117"/>
                  <a:pt x="0" y="266"/>
                </a:cubicBezTo>
                <a:cubicBezTo>
                  <a:pt x="24" y="240"/>
                  <a:pt x="24" y="240"/>
                  <a:pt x="24" y="240"/>
                </a:cubicBezTo>
                <a:cubicBezTo>
                  <a:pt x="49" y="268"/>
                  <a:pt x="49" y="268"/>
                  <a:pt x="49" y="268"/>
                </a:cubicBezTo>
                <a:cubicBezTo>
                  <a:pt x="61" y="145"/>
                  <a:pt x="165" y="49"/>
                  <a:pt x="291" y="49"/>
                </a:cubicBezTo>
                <a:cubicBezTo>
                  <a:pt x="425" y="49"/>
                  <a:pt x="533" y="157"/>
                  <a:pt x="533" y="291"/>
                </a:cubicBezTo>
                <a:cubicBezTo>
                  <a:pt x="520" y="291"/>
                  <a:pt x="520" y="291"/>
                  <a:pt x="520" y="291"/>
                </a:cubicBezTo>
                <a:cubicBezTo>
                  <a:pt x="558" y="333"/>
                  <a:pt x="558" y="333"/>
                  <a:pt x="558" y="333"/>
                </a:cubicBezTo>
                <a:cubicBezTo>
                  <a:pt x="596" y="291"/>
                  <a:pt x="596" y="291"/>
                  <a:pt x="596" y="291"/>
                </a:cubicBezTo>
                <a:lnTo>
                  <a:pt x="582" y="2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4" name="Freeform 15"/>
          <p:cNvSpPr/>
          <p:nvPr>
            <p:custDataLst>
              <p:tags r:id="rId7"/>
            </p:custDataLst>
          </p:nvPr>
        </p:nvSpPr>
        <p:spPr bwMode="auto">
          <a:xfrm>
            <a:off x="2796440" y="2721828"/>
            <a:ext cx="2031228" cy="1144300"/>
          </a:xfrm>
          <a:custGeom>
            <a:avLst/>
            <a:gdLst>
              <a:gd name="T0" fmla="*/ 558 w 596"/>
              <a:gd name="T1" fmla="*/ 0 h 333"/>
              <a:gd name="T2" fmla="*/ 520 w 596"/>
              <a:gd name="T3" fmla="*/ 41 h 333"/>
              <a:gd name="T4" fmla="*/ 533 w 596"/>
              <a:gd name="T5" fmla="*/ 41 h 333"/>
              <a:gd name="T6" fmla="*/ 291 w 596"/>
              <a:gd name="T7" fmla="*/ 284 h 333"/>
              <a:gd name="T8" fmla="*/ 49 w 596"/>
              <a:gd name="T9" fmla="*/ 65 h 333"/>
              <a:gd name="T10" fmla="*/ 24 w 596"/>
              <a:gd name="T11" fmla="*/ 93 h 333"/>
              <a:gd name="T12" fmla="*/ 0 w 596"/>
              <a:gd name="T13" fmla="*/ 67 h 333"/>
              <a:gd name="T14" fmla="*/ 291 w 596"/>
              <a:gd name="T15" fmla="*/ 333 h 333"/>
              <a:gd name="T16" fmla="*/ 582 w 596"/>
              <a:gd name="T17" fmla="*/ 41 h 333"/>
              <a:gd name="T18" fmla="*/ 596 w 596"/>
              <a:gd name="T19" fmla="*/ 41 h 333"/>
              <a:gd name="T20" fmla="*/ 558 w 596"/>
              <a:gd name="T21" fmla="*/ 0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6" h="333">
                <a:moveTo>
                  <a:pt x="558" y="0"/>
                </a:moveTo>
                <a:cubicBezTo>
                  <a:pt x="520" y="41"/>
                  <a:pt x="520" y="41"/>
                  <a:pt x="520" y="41"/>
                </a:cubicBezTo>
                <a:cubicBezTo>
                  <a:pt x="533" y="41"/>
                  <a:pt x="533" y="41"/>
                  <a:pt x="533" y="41"/>
                </a:cubicBezTo>
                <a:cubicBezTo>
                  <a:pt x="533" y="175"/>
                  <a:pt x="425" y="284"/>
                  <a:pt x="291" y="284"/>
                </a:cubicBezTo>
                <a:cubicBezTo>
                  <a:pt x="165" y="284"/>
                  <a:pt x="61" y="188"/>
                  <a:pt x="49" y="65"/>
                </a:cubicBezTo>
                <a:cubicBezTo>
                  <a:pt x="24" y="93"/>
                  <a:pt x="24" y="93"/>
                  <a:pt x="24" y="93"/>
                </a:cubicBezTo>
                <a:cubicBezTo>
                  <a:pt x="0" y="67"/>
                  <a:pt x="0" y="67"/>
                  <a:pt x="0" y="67"/>
                </a:cubicBezTo>
                <a:cubicBezTo>
                  <a:pt x="13" y="216"/>
                  <a:pt x="138" y="333"/>
                  <a:pt x="291" y="333"/>
                </a:cubicBezTo>
                <a:cubicBezTo>
                  <a:pt x="452" y="333"/>
                  <a:pt x="582" y="202"/>
                  <a:pt x="582" y="41"/>
                </a:cubicBezTo>
                <a:cubicBezTo>
                  <a:pt x="596" y="41"/>
                  <a:pt x="596" y="41"/>
                  <a:pt x="596" y="41"/>
                </a:cubicBezTo>
                <a:lnTo>
                  <a:pt x="55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5" name="Freeform 17"/>
          <p:cNvSpPr/>
          <p:nvPr>
            <p:custDataLst>
              <p:tags r:id="rId8"/>
            </p:custDataLst>
          </p:nvPr>
        </p:nvSpPr>
        <p:spPr bwMode="auto">
          <a:xfrm>
            <a:off x="6435652" y="2721828"/>
            <a:ext cx="2031228" cy="1144300"/>
          </a:xfrm>
          <a:custGeom>
            <a:avLst/>
            <a:gdLst>
              <a:gd name="T0" fmla="*/ 558 w 596"/>
              <a:gd name="T1" fmla="*/ 0 h 333"/>
              <a:gd name="T2" fmla="*/ 520 w 596"/>
              <a:gd name="T3" fmla="*/ 41 h 333"/>
              <a:gd name="T4" fmla="*/ 533 w 596"/>
              <a:gd name="T5" fmla="*/ 41 h 333"/>
              <a:gd name="T6" fmla="*/ 291 w 596"/>
              <a:gd name="T7" fmla="*/ 284 h 333"/>
              <a:gd name="T8" fmla="*/ 49 w 596"/>
              <a:gd name="T9" fmla="*/ 65 h 333"/>
              <a:gd name="T10" fmla="*/ 24 w 596"/>
              <a:gd name="T11" fmla="*/ 93 h 333"/>
              <a:gd name="T12" fmla="*/ 0 w 596"/>
              <a:gd name="T13" fmla="*/ 67 h 333"/>
              <a:gd name="T14" fmla="*/ 291 w 596"/>
              <a:gd name="T15" fmla="*/ 333 h 333"/>
              <a:gd name="T16" fmla="*/ 582 w 596"/>
              <a:gd name="T17" fmla="*/ 41 h 333"/>
              <a:gd name="T18" fmla="*/ 596 w 596"/>
              <a:gd name="T19" fmla="*/ 41 h 333"/>
              <a:gd name="T20" fmla="*/ 558 w 596"/>
              <a:gd name="T21" fmla="*/ 0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96" h="333">
                <a:moveTo>
                  <a:pt x="558" y="0"/>
                </a:moveTo>
                <a:cubicBezTo>
                  <a:pt x="520" y="41"/>
                  <a:pt x="520" y="41"/>
                  <a:pt x="520" y="41"/>
                </a:cubicBezTo>
                <a:cubicBezTo>
                  <a:pt x="533" y="41"/>
                  <a:pt x="533" y="41"/>
                  <a:pt x="533" y="41"/>
                </a:cubicBezTo>
                <a:cubicBezTo>
                  <a:pt x="533" y="175"/>
                  <a:pt x="425" y="284"/>
                  <a:pt x="291" y="284"/>
                </a:cubicBezTo>
                <a:cubicBezTo>
                  <a:pt x="165" y="284"/>
                  <a:pt x="61" y="188"/>
                  <a:pt x="49" y="65"/>
                </a:cubicBezTo>
                <a:cubicBezTo>
                  <a:pt x="24" y="93"/>
                  <a:pt x="24" y="93"/>
                  <a:pt x="24" y="93"/>
                </a:cubicBezTo>
                <a:cubicBezTo>
                  <a:pt x="0" y="67"/>
                  <a:pt x="0" y="67"/>
                  <a:pt x="0" y="67"/>
                </a:cubicBezTo>
                <a:cubicBezTo>
                  <a:pt x="14" y="216"/>
                  <a:pt x="139" y="333"/>
                  <a:pt x="291" y="333"/>
                </a:cubicBezTo>
                <a:cubicBezTo>
                  <a:pt x="452" y="333"/>
                  <a:pt x="582" y="202"/>
                  <a:pt x="582" y="41"/>
                </a:cubicBezTo>
                <a:cubicBezTo>
                  <a:pt x="596" y="41"/>
                  <a:pt x="596" y="41"/>
                  <a:pt x="596" y="41"/>
                </a:cubicBezTo>
                <a:lnTo>
                  <a:pt x="55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7" name="矩形 46"/>
          <p:cNvSpPr/>
          <p:nvPr>
            <p:custDataLst>
              <p:tags r:id="rId9"/>
            </p:custDataLst>
          </p:nvPr>
        </p:nvSpPr>
        <p:spPr>
          <a:xfrm>
            <a:off x="1174423" y="3894254"/>
            <a:ext cx="2414561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统一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gold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标准格式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强制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PDF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页码 + 原文证据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建立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t0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股权结构基准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8" name="文本框 4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11863" y="3539716"/>
            <a:ext cx="1761172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一、数据层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" name="矩形 48"/>
          <p:cNvSpPr/>
          <p:nvPr>
            <p:custDataLst>
              <p:tags r:id="rId11"/>
            </p:custDataLst>
          </p:nvPr>
        </p:nvSpPr>
        <p:spPr>
          <a:xfrm>
            <a:off x="2705735" y="1453515"/>
            <a:ext cx="27813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PDF →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章节定位 → 事件切块 →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抽取 → 校验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引入“候选事件包”机制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0" name="文本框 49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963521" y="1107876"/>
            <a:ext cx="1761172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二、流程层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" name="矩形 50"/>
          <p:cNvSpPr/>
          <p:nvPr>
            <p:custDataLst>
              <p:tags r:id="rId13"/>
            </p:custDataLst>
          </p:nvPr>
        </p:nvSpPr>
        <p:spPr>
          <a:xfrm>
            <a:off x="4357370" y="3847465"/>
            <a:ext cx="277431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引入失败自动回溯机制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 review queue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标准化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2" name="文本框 51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778877" y="3524980"/>
            <a:ext cx="1761172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三、自动化层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" name="矩形 52"/>
          <p:cNvSpPr/>
          <p:nvPr>
            <p:custDataLst>
              <p:tags r:id="rId15"/>
            </p:custDataLst>
          </p:nvPr>
        </p:nvSpPr>
        <p:spPr>
          <a:xfrm>
            <a:off x="6293485" y="1430655"/>
            <a:ext cx="280860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数值级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cross-check（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非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pass/fail）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股本变化闭环验证</a:t>
            </a:r>
            <a:endParaRPr lang="en-US" altLang="zh-CN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3.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股东逐项对账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4" name="文本框 53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540049" y="1107876"/>
            <a:ext cx="1761172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四、校验层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3588699" y="2675558"/>
            <a:ext cx="402518" cy="404299"/>
            <a:chOff x="5394325" y="2859088"/>
            <a:chExt cx="358775" cy="360362"/>
          </a:xfrm>
          <a:solidFill>
            <a:schemeClr val="bg1"/>
          </a:solidFill>
        </p:grpSpPr>
        <p:sp>
          <p:nvSpPr>
            <p:cNvPr id="56" name="AutoShape 37"/>
            <p:cNvSpPr/>
            <p:nvPr>
              <p:custDataLst>
                <p:tags r:id="rId18"/>
              </p:custDataLst>
            </p:nvPr>
          </p:nvSpPr>
          <p:spPr bwMode="auto">
            <a:xfrm>
              <a:off x="5394325" y="2894013"/>
              <a:ext cx="327025" cy="325437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7" name="AutoShape 38"/>
            <p:cNvSpPr/>
            <p:nvPr>
              <p:custDataLst>
                <p:tags r:id="rId19"/>
              </p:custDataLst>
            </p:nvPr>
          </p:nvSpPr>
          <p:spPr bwMode="auto">
            <a:xfrm>
              <a:off x="5551488" y="3040063"/>
              <a:ext cx="55562" cy="555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8" name="AutoShape 39"/>
            <p:cNvSpPr/>
            <p:nvPr>
              <p:custDataLst>
                <p:tags r:id="rId20"/>
              </p:custDataLst>
            </p:nvPr>
          </p:nvSpPr>
          <p:spPr bwMode="auto">
            <a:xfrm>
              <a:off x="5697538" y="2859088"/>
              <a:ext cx="55562" cy="571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9" name="AutoShape 40"/>
            <p:cNvSpPr/>
            <p:nvPr>
              <p:custDataLst>
                <p:tags r:id="rId21"/>
              </p:custDataLst>
            </p:nvPr>
          </p:nvSpPr>
          <p:spPr bwMode="auto">
            <a:xfrm>
              <a:off x="5483225" y="3028950"/>
              <a:ext cx="46038" cy="444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0" name="AutoShape 41"/>
            <p:cNvSpPr/>
            <p:nvPr>
              <p:custDataLst>
                <p:tags r:id="rId22"/>
              </p:custDataLst>
            </p:nvPr>
          </p:nvSpPr>
          <p:spPr bwMode="auto">
            <a:xfrm>
              <a:off x="5529263" y="3106738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1" name="AutoShape 42"/>
            <p:cNvSpPr/>
            <p:nvPr>
              <p:custDataLst>
                <p:tags r:id="rId23"/>
              </p:custDataLst>
            </p:nvPr>
          </p:nvSpPr>
          <p:spPr bwMode="auto">
            <a:xfrm>
              <a:off x="5708650" y="2938463"/>
              <a:ext cx="22225" cy="222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24"/>
            </p:custDataLst>
          </p:nvPr>
        </p:nvGrpSpPr>
        <p:grpSpPr>
          <a:xfrm>
            <a:off x="5404686" y="2663175"/>
            <a:ext cx="402956" cy="402956"/>
            <a:chOff x="5394312" y="2141343"/>
            <a:chExt cx="359165" cy="359165"/>
          </a:xfrm>
          <a:solidFill>
            <a:schemeClr val="bg1"/>
          </a:solidFill>
        </p:grpSpPr>
        <p:sp>
          <p:nvSpPr>
            <p:cNvPr id="63" name="AutoShape 56"/>
            <p:cNvSpPr/>
            <p:nvPr>
              <p:custDataLst>
                <p:tags r:id="rId25"/>
              </p:custDataLst>
            </p:nvPr>
          </p:nvSpPr>
          <p:spPr bwMode="auto">
            <a:xfrm>
              <a:off x="5394312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4" name="AutoShape 57"/>
            <p:cNvSpPr/>
            <p:nvPr>
              <p:custDataLst>
                <p:tags r:id="rId26"/>
              </p:custDataLst>
            </p:nvPr>
          </p:nvSpPr>
          <p:spPr bwMode="auto">
            <a:xfrm>
              <a:off x="5641124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5" name="AutoShape 58"/>
            <p:cNvSpPr/>
            <p:nvPr>
              <p:custDataLst>
                <p:tags r:id="rId27"/>
              </p:custDataLst>
            </p:nvPr>
          </p:nvSpPr>
          <p:spPr bwMode="auto">
            <a:xfrm>
              <a:off x="5517718" y="2141343"/>
              <a:ext cx="11235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66" name="AutoShape 112"/>
          <p:cNvSpPr/>
          <p:nvPr>
            <p:custDataLst>
              <p:tags r:id="rId28"/>
            </p:custDataLst>
          </p:nvPr>
        </p:nvSpPr>
        <p:spPr bwMode="auto">
          <a:xfrm>
            <a:off x="7227021" y="2659995"/>
            <a:ext cx="404300" cy="402518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67" name="组合 66"/>
          <p:cNvGrpSpPr/>
          <p:nvPr>
            <p:custDataLst>
              <p:tags r:id="rId29"/>
            </p:custDataLst>
          </p:nvPr>
        </p:nvGrpSpPr>
        <p:grpSpPr>
          <a:xfrm>
            <a:off x="1752675" y="2676901"/>
            <a:ext cx="402956" cy="402956"/>
            <a:chOff x="2473104" y="2145028"/>
            <a:chExt cx="359165" cy="359165"/>
          </a:xfrm>
          <a:solidFill>
            <a:schemeClr val="bg1"/>
          </a:solidFill>
        </p:grpSpPr>
        <p:sp>
          <p:nvSpPr>
            <p:cNvPr id="68" name="AutoShape 126"/>
            <p:cNvSpPr/>
            <p:nvPr>
              <p:custDataLst>
                <p:tags r:id="rId30"/>
              </p:custDataLst>
            </p:nvPr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69" name="AutoShape 127"/>
            <p:cNvSpPr/>
            <p:nvPr>
              <p:custDataLst>
                <p:tags r:id="rId31"/>
              </p:custDataLst>
            </p:nvPr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39" name="Oval 8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980563" y="2942346"/>
            <a:ext cx="154018" cy="15406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6" name="Oval 8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8268672" y="2505929"/>
            <a:ext cx="154018" cy="15406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2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3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4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5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6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7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8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9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10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11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12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13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14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15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16.xml><?xml version="1.0" encoding="utf-8"?>
<p:tagLst xmlns:p="http://schemas.openxmlformats.org/presentationml/2006/main">
  <p:tag name="KSO_WM_DIAGRAM_VIRTUALLY_FRAME" val="{&quot;height&quot;:291.8297637795275,&quot;left&quot;:6.614094488188977,&quot;top&quot;:83.15582677165354,&quot;width&quot;:706.7718110236221}"/>
</p:tagLst>
</file>

<file path=ppt/tags/tag17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18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19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0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1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2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3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4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5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6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7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8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29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30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31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32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33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34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35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36.xml><?xml version="1.0" encoding="utf-8"?>
<p:tagLst xmlns:p="http://schemas.openxmlformats.org/presentationml/2006/main">
  <p:tag name="KSO_WM_DIAGRAM_VIRTUALLY_FRAME" val="{&quot;height&quot;:230.54488188976384,&quot;left&quot;:42.2111811023622,&quot;top&quot;:122.53062992125982,&quot;width&quot;:637.1777952755906}"/>
</p:tagLst>
</file>

<file path=ppt/tags/tag37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38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39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0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1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2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3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4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5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6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7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8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49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0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1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2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3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4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5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6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7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8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59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0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1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2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3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4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5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6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7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8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69.xml><?xml version="1.0" encoding="utf-8"?>
<p:tagLst xmlns:p="http://schemas.openxmlformats.org/presentationml/2006/main">
  <p:tag name="KSO_WM_DIAGRAM_VIRTUALLY_FRAME" val="{&quot;height&quot;:353.7895275590551,&quot;left&quot;:61.82425196850393,&quot;top&quot;:87.23433070866142,&quot;width&quot;:654.8757480314961}"/>
</p:tagLst>
</file>

<file path=ppt/tags/tag70.xml><?xml version="1.0" encoding="utf-8"?>
<p:tagLst xmlns:p="http://schemas.openxmlformats.org/presentationml/2006/main">
  <p:tag name="ISPRING_PRESENTATION_TITLE" val="当图网 www.99ppt.com"/>
</p:tagLst>
</file>

<file path=ppt/theme/theme1.xml><?xml version="1.0" encoding="utf-8"?>
<a:theme xmlns:a="http://schemas.openxmlformats.org/drawingml/2006/main" name=".">
  <a:themeElements>
    <a:clrScheme name="深蓝质感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2834"/>
      </a:accent1>
      <a:accent2>
        <a:srgbClr val="FEDA5B"/>
      </a:accent2>
      <a:accent3>
        <a:srgbClr val="F5821F"/>
      </a:accent3>
      <a:accent4>
        <a:srgbClr val="BCBEC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1">
      <a:majorFont>
        <a:latin typeface="微软雅黑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2180</Words>
  <Application>WPS 演示</Application>
  <PresentationFormat>全屏显示(16:9)</PresentationFormat>
  <Paragraphs>268</Paragraphs>
  <Slides>9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Calibri</vt:lpstr>
      <vt:lpstr>方正准圆简体</vt:lpstr>
      <vt:lpstr>Calibri Light</vt:lpstr>
      <vt:lpstr>方正宋刻本秀楷简体</vt:lpstr>
      <vt:lpstr>华文中宋</vt:lpstr>
      <vt:lpstr>Wingdings</vt:lpstr>
      <vt:lpstr>方正兰亭黑_GBK</vt:lpstr>
      <vt:lpstr>Gill Sans</vt:lpstr>
      <vt:lpstr>Segoe UI</vt:lpstr>
      <vt:lpstr>Arial Unicode MS</vt:lpstr>
      <vt:lpstr>微软雅黑 Light</vt:lpstr>
      <vt:lpstr>Segoe Print</vt:lpstr>
      <vt:lpstr>方正准圆简体</vt:lpstr>
      <vt:lpstr>方正准圆_GBK</vt:lpstr>
      <vt:lpstr>Saturday Sans Regular</vt:lpstr>
      <vt:lpstr>.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舒頔</cp:lastModifiedBy>
  <cp:revision>9</cp:revision>
  <dcterms:created xsi:type="dcterms:W3CDTF">2017-06-30T01:20:00Z</dcterms:created>
  <dcterms:modified xsi:type="dcterms:W3CDTF">2026-07-02T09:06:49Z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04C07A7BD8B04C07B8D4DA3421E2F146_13</vt:lpwstr>
  </property>
  <property fmtid="{D5CDD505-2E9C-101B-9397-08002B2CF9AE}" pid="3" name="KSOProductBuildVer">
    <vt:lpwstr>2052-12.1.0.26375</vt:lpwstr>
  </property>
</Properties>
</file>